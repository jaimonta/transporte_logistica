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2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F61279-85C1-4227-FDBC-0EC40CADF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6DC8E7-053A-F611-1F2A-9434335FE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2786AD-135C-4418-A0E6-C696841AC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3E5-B90F-4015-A965-3681557735A8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4FA98B-B304-FBDF-CD76-2DFC9C255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5F8C8B-98C6-61A9-958D-1E97D5A3F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BAC6-DEF1-43B6-B460-5597C7C7932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589338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23203B-47AE-737C-A09F-DED855351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B730BA-8286-EFF6-2FE8-CB27A1C5F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C55234-3B12-223A-6799-334E5E532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3E5-B90F-4015-A965-3681557735A8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912CF6-7822-8294-0FF6-8D180B2AC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218703-A042-C004-CA28-52DCFCA2B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BAC6-DEF1-43B6-B460-5597C7C7932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6685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A3248-15AB-F7D4-DE2F-8EF82DA57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DC586B-A4A6-2597-081E-6B40EB2B8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295606-9D0E-E661-6876-B4B0A94E0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3E5-B90F-4015-A965-3681557735A8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3EC4A0-C51B-D482-59C3-0A97831F7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319627-03F2-20E2-B72A-D56B82A33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BAC6-DEF1-43B6-B460-5597C7C7932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688322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A09296-20E0-56BB-E147-8AF6F6FA8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D4FEE9-7DB6-A65A-0D12-AF2A9BA7B4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DC46DEE-92CD-E831-0DBF-B92B45B7A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6C1FF1-F5A9-D94E-C8E2-C5DE7AF62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3E5-B90F-4015-A965-3681557735A8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A344E8-CEA6-9CB9-6A3A-2212A903D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7D78F2-DEDE-7FED-D0DE-FD0EB6BA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BAC6-DEF1-43B6-B460-5597C7C7932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757828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45AE23-BE57-7CC1-9B90-ABC877C8C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727067-8A34-AF8A-4523-0B92B9BF3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EEDA9F-4C44-6F26-A477-20D94367E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4A56D5D-9C67-01F7-CAC9-E0873807EC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7A1462-313E-C352-1755-45082DA8A8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60A556D-DD71-DB35-F424-162732FEC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3E5-B90F-4015-A965-3681557735A8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D1F10AD-C009-7ADF-5F3C-DF1E71B1D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23BB2B5-DA15-5D4F-FC2C-353949752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BAC6-DEF1-43B6-B460-5597C7C7932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55366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828E14-74B5-7ECA-CCFD-4189A05A7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9ED644-A10C-1F58-A5E7-E6FC40C0A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3E5-B90F-4015-A965-3681557735A8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C861B04-52D0-1106-C26B-C73BA331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86C15C8-787E-789B-14C3-E6A1555D7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BAC6-DEF1-43B6-B460-5597C7C7932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88539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14BC6D-D951-7079-C6B7-5BFD6BFBA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3E5-B90F-4015-A965-3681557735A8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358C0E6-32CE-40E0-6274-BBEA4D2AE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C7C039-407B-6046-D9BE-A524D4704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BAC6-DEF1-43B6-B460-5597C7C7932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175990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99A03-89CD-214D-12C9-E008E2176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D49D25-170B-5195-2884-4D7E736B5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73E6E10-E201-0472-162A-2C9C3171B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FACDC64-8789-EA52-39F0-2BE710F16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3E5-B90F-4015-A965-3681557735A8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ABE5D8-C7D5-AAA4-E2C8-821B36E83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9BD05E-2836-98BA-C978-B68EE45ED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BAC6-DEF1-43B6-B460-5597C7C7932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43515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3A887-7B26-3594-F662-CFFDA96F4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61FBC3D-EFD0-6FC6-A963-0AF75FFF75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C08CB5-C92E-DE0E-9F93-98415977A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774D8-52E6-FEA8-E750-D72812EC1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3E5-B90F-4015-A965-3681557735A8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E8E0C2-5224-0C17-CE79-26EDF0287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D4BBF4-AA7A-B9E2-4F57-8E7AE0C15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BAC6-DEF1-43B6-B460-5597C7C7932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054400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7DD73E-40C0-3D97-6C9A-18499704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440D76-39DC-6C04-3533-841E38758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7C4938-24D7-F474-3CAB-7C04C0F2D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3E5-B90F-4015-A965-3681557735A8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87CCB2-129A-D003-A861-2CB3F2E77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0B0151-8116-A2E6-84BD-C6FC710F6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BAC6-DEF1-43B6-B460-5597C7C7932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22071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3062656-D7C7-92D6-9E46-ABC8CD3AB9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D692EE0-E19F-F166-9FEB-24DEEE1D8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57C860-7FC4-4EE2-128F-2C93FD549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3E5-B90F-4015-A965-3681557735A8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5F6EAC-FE77-5FCA-E878-1342D29F8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C2F7EC-C1F1-D52D-FFEE-0D026D063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2BAC6-DEF1-43B6-B460-5597C7C7932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219226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16F9929-D3DD-6A92-FABE-E18A39AC3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8CBB3A-F1D1-F308-DDDC-F3F9E1C35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909D8E-1622-04A3-8894-91B65F96A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1503E5-B90F-4015-A965-3681557735A8}" type="datetimeFigureOut">
              <a:rPr lang="es-VE" smtClean="0"/>
              <a:t>27/9/2026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578480-C2B7-633F-27C2-2A7AF1A95D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E7801D-2F3C-7E3D-FE94-C74907FD0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F2BAC6-DEF1-43B6-B460-5597C7C7932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3326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D4CB9B2-A3CA-AD20-892C-1A85B2879E00}"/>
              </a:ext>
            </a:extLst>
          </p:cNvPr>
          <p:cNvSpPr txBox="1"/>
          <p:nvPr/>
        </p:nvSpPr>
        <p:spPr>
          <a:xfrm>
            <a:off x="749300" y="1073443"/>
            <a:ext cx="10960100" cy="4909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VE" sz="5400" b="1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ESTRUCTURA DE PROYECTO</a:t>
            </a:r>
            <a:endParaRPr lang="es-VE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s-VE" sz="4000" b="1" dirty="0">
                <a:solidFill>
                  <a:srgbClr val="2E6DA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Sistema de Gestión de Flota de Transporte</a:t>
            </a:r>
            <a:endParaRPr lang="es-VE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spcAft>
                <a:spcPts val="300"/>
              </a:spcAft>
            </a:pPr>
            <a:r>
              <a:rPr lang="en-US" sz="3200" dirty="0">
                <a:solidFill>
                  <a:srgbClr val="555555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Armando Maldonado Transport Co.</a:t>
            </a:r>
            <a:endParaRPr lang="es-VE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spcAft>
                <a:spcPts val="300"/>
              </a:spcAft>
            </a:pPr>
            <a:r>
              <a:rPr lang="en-US" sz="2800" dirty="0">
                <a:solidFill>
                  <a:srgbClr val="0F6E5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Stack: Flutter (Frontend)  ·  </a:t>
            </a:r>
            <a:r>
              <a:rPr lang="en-US" sz="2800" dirty="0" err="1">
                <a:solidFill>
                  <a:srgbClr val="0F6E5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Supabase</a:t>
            </a:r>
            <a:r>
              <a:rPr lang="en-US" sz="2800" dirty="0">
                <a:solidFill>
                  <a:srgbClr val="0F6E5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(Backend)</a:t>
            </a:r>
            <a:endParaRPr lang="es-VE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spcAft>
                <a:spcPts val="2400"/>
              </a:spcAft>
            </a:pPr>
            <a:r>
              <a:rPr lang="es-VE" sz="2400" dirty="0">
                <a:solidFill>
                  <a:srgbClr val="88888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Versión 2.0  ·  Septiembre 2026</a:t>
            </a:r>
            <a:endParaRPr lang="es-VE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52400" marR="152400" algn="ctr">
              <a:spcBef>
                <a:spcPts val="600"/>
              </a:spcBef>
              <a:spcAft>
                <a:spcPts val="800"/>
              </a:spcAft>
            </a:pPr>
            <a:r>
              <a:rPr lang="es-VE" sz="1800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Documento de arquitectura técnica — USO INTERNO</a:t>
            </a:r>
            <a:br>
              <a:rPr lang="es-VE" sz="1800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VE" sz="1800" dirty="0" err="1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Flutter</a:t>
            </a:r>
            <a:r>
              <a:rPr lang="es-VE" sz="1800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(app móvil iOS/Android + panel web </a:t>
            </a:r>
            <a:r>
              <a:rPr lang="es-VE" sz="1800" dirty="0" err="1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admin</a:t>
            </a:r>
            <a:r>
              <a:rPr lang="es-VE" sz="1800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 + </a:t>
            </a:r>
            <a:r>
              <a:rPr lang="es-VE" sz="1800" dirty="0" err="1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Supabase</a:t>
            </a:r>
            <a:r>
              <a:rPr lang="es-VE" sz="1800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(PostgreSQL, </a:t>
            </a:r>
            <a:r>
              <a:rPr lang="es-VE" sz="1800" dirty="0" err="1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Auth</a:t>
            </a:r>
            <a:r>
              <a:rPr lang="es-VE" sz="1800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Storage, </a:t>
            </a:r>
            <a:r>
              <a:rPr lang="es-VE" sz="1800" dirty="0" err="1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Realtime</a:t>
            </a:r>
            <a:r>
              <a:rPr lang="es-VE" sz="1800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br>
              <a:rPr lang="es-VE" sz="1800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VE" sz="1800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Ruta de guardado: C:\Desarrollo\Proyecto 1735</a:t>
            </a:r>
            <a:endParaRPr lang="es-VE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br>
              <a:rPr lang="es-VE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VE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409430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B3AB909-C87A-930E-DB5C-1336655F4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662" y="502412"/>
            <a:ext cx="8724138" cy="1059688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09EA01B1-7775-0693-7F3A-F62A1056A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29581"/>
              </p:ext>
            </p:extLst>
          </p:nvPr>
        </p:nvGraphicFramePr>
        <p:xfrm>
          <a:off x="1879963" y="2381488"/>
          <a:ext cx="7048500" cy="15489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5520">
                  <a:extLst>
                    <a:ext uri="{9D8B030D-6E8A-4147-A177-3AD203B41FA5}">
                      <a16:colId xmlns:a16="http://schemas.microsoft.com/office/drawing/2014/main" val="1440658434"/>
                    </a:ext>
                  </a:extLst>
                </a:gridCol>
                <a:gridCol w="4792980">
                  <a:extLst>
                    <a:ext uri="{9D8B030D-6E8A-4147-A177-3AD203B41FA5}">
                      <a16:colId xmlns:a16="http://schemas.microsoft.com/office/drawing/2014/main" val="3536713067"/>
                    </a:ext>
                  </a:extLst>
                </a:gridCol>
              </a:tblGrid>
              <a:tr h="258154"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Campo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Detalle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811292026"/>
                  </a:ext>
                </a:extLst>
              </a:tr>
              <a:tr h="258154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Cliente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Armando Maldonado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003319804"/>
                  </a:ext>
                </a:extLst>
              </a:tr>
              <a:tr h="258154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Empresa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Maldonado Transport Co.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764706383"/>
                  </a:ext>
                </a:extLst>
              </a:tr>
              <a:tr h="258154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Modelo de negocio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Subcontratista / "comodín" para All Freight, UPS y similares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9411783"/>
                  </a:ext>
                </a:extLst>
              </a:tr>
              <a:tr h="258154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Operación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Remota desde México — flota operando en EE. UU.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850088348"/>
                  </a:ext>
                </a:extLst>
              </a:tr>
              <a:tr h="258154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Flota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 dirty="0">
                          <a:effectLst/>
                        </a:rPr>
                        <a:t>~7 camiones  |  ~7 choferes (pago 1099 por día/ruta)</a:t>
                      </a:r>
                      <a:endParaRPr lang="es-VE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918990263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9B195D82-C866-6DD0-1858-3A4DA5656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9963" y="1998999"/>
            <a:ext cx="19527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VE" altLang="es-VE" sz="1400" b="1" i="0" u="none" strike="noStrike" cap="none" normalizeH="0" baseline="0" dirty="0">
                <a:ln>
                  <a:noFill/>
                </a:ln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1.1  Datos del cliente</a:t>
            </a:r>
            <a:endParaRPr kumimoji="0" lang="es-VE" altLang="es-V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5AF2945-8268-369F-E8A3-DF01AF038590}"/>
              </a:ext>
            </a:extLst>
          </p:cNvPr>
          <p:cNvSpPr txBox="1"/>
          <p:nvPr/>
        </p:nvSpPr>
        <p:spPr>
          <a:xfrm>
            <a:off x="1879962" y="4118779"/>
            <a:ext cx="6565537" cy="1590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s-VE" sz="1400" b="1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1.2  Problemas que resuelve el sistema</a:t>
            </a:r>
            <a:endParaRPr lang="es-VE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28600">
              <a:spcAft>
                <a:spcPts val="300"/>
              </a:spcAft>
            </a:pPr>
            <a:r>
              <a:rPr lang="es-VE" sz="1400" dirty="0">
                <a:solidFill>
                  <a:srgbClr val="44444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Pérdida de documentos físicos (manifiestos, firmas en papel)</a:t>
            </a:r>
            <a:endParaRPr lang="es-VE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28600">
              <a:spcAft>
                <a:spcPts val="300"/>
              </a:spcAft>
            </a:pPr>
            <a:r>
              <a:rPr lang="es-VE" sz="1400" dirty="0">
                <a:solidFill>
                  <a:srgbClr val="44444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Correos saturados con </a:t>
            </a:r>
            <a:r>
              <a:rPr lang="es-VE" sz="1400" dirty="0" err="1">
                <a:solidFill>
                  <a:srgbClr val="44444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PDFs</a:t>
            </a:r>
            <a:r>
              <a:rPr lang="es-VE" sz="1400" dirty="0">
                <a:solidFill>
                  <a:srgbClr val="44444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escaneados sin orden ni búsqueda</a:t>
            </a:r>
            <a:endParaRPr lang="es-VE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28600">
              <a:spcAft>
                <a:spcPts val="300"/>
              </a:spcAft>
            </a:pPr>
            <a:r>
              <a:rPr lang="es-VE" sz="1400" dirty="0">
                <a:solidFill>
                  <a:srgbClr val="44444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Falta de visibilidad GPS en tiempo real de las unidades</a:t>
            </a:r>
            <a:endParaRPr lang="es-VE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28600">
              <a:spcAft>
                <a:spcPts val="300"/>
              </a:spcAft>
            </a:pPr>
            <a:r>
              <a:rPr lang="es-VE" sz="1400" dirty="0">
                <a:solidFill>
                  <a:srgbClr val="44444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Control manual ineficiente: agendas en papel, bitácoras físicas</a:t>
            </a:r>
            <a:endParaRPr lang="es-VE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28600">
              <a:spcAft>
                <a:spcPts val="300"/>
              </a:spcAft>
            </a:pPr>
            <a:r>
              <a:rPr lang="es-VE" sz="1400" dirty="0">
                <a:solidFill>
                  <a:srgbClr val="44444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• Dificultad para calcular cobros quincenales y pagos 1099</a:t>
            </a:r>
            <a:endParaRPr lang="es-VE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679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E5E6C47-181D-FED1-7C6C-26E166BB0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162" y="349148"/>
            <a:ext cx="7212838" cy="73927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D4E91D3-E5FF-7CA0-87B1-7569612591B2}"/>
              </a:ext>
            </a:extLst>
          </p:cNvPr>
          <p:cNvSpPr txBox="1"/>
          <p:nvPr/>
        </p:nvSpPr>
        <p:spPr>
          <a:xfrm>
            <a:off x="1612900" y="9037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s-VE" sz="1800" b="1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2.1  </a:t>
            </a:r>
            <a:r>
              <a:rPr lang="es-VE" sz="1800" b="1" dirty="0" err="1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Frontend</a:t>
            </a:r>
            <a:r>
              <a:rPr lang="es-VE" sz="1800" b="1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— </a:t>
            </a:r>
            <a:r>
              <a:rPr lang="es-VE" sz="1800" b="1" dirty="0" err="1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Flutter</a:t>
            </a:r>
            <a:endParaRPr lang="es-VE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11E4075-F7A2-846A-C4E4-AA57C68A6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008791"/>
              </p:ext>
            </p:extLst>
          </p:nvPr>
        </p:nvGraphicFramePr>
        <p:xfrm>
          <a:off x="1739900" y="1273090"/>
          <a:ext cx="7327900" cy="18801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65580">
                  <a:extLst>
                    <a:ext uri="{9D8B030D-6E8A-4147-A177-3AD203B41FA5}">
                      <a16:colId xmlns:a16="http://schemas.microsoft.com/office/drawing/2014/main" val="711406640"/>
                    </a:ext>
                  </a:extLst>
                </a:gridCol>
                <a:gridCol w="1628422">
                  <a:extLst>
                    <a:ext uri="{9D8B030D-6E8A-4147-A177-3AD203B41FA5}">
                      <a16:colId xmlns:a16="http://schemas.microsoft.com/office/drawing/2014/main" val="2966808859"/>
                    </a:ext>
                  </a:extLst>
                </a:gridCol>
                <a:gridCol w="1465580">
                  <a:extLst>
                    <a:ext uri="{9D8B030D-6E8A-4147-A177-3AD203B41FA5}">
                      <a16:colId xmlns:a16="http://schemas.microsoft.com/office/drawing/2014/main" val="1471924162"/>
                    </a:ext>
                  </a:extLst>
                </a:gridCol>
                <a:gridCol w="2768318">
                  <a:extLst>
                    <a:ext uri="{9D8B030D-6E8A-4147-A177-3AD203B41FA5}">
                      <a16:colId xmlns:a16="http://schemas.microsoft.com/office/drawing/2014/main" val="3110854887"/>
                    </a:ext>
                  </a:extLst>
                </a:gridCol>
              </a:tblGrid>
              <a:tr h="144627"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Componente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Paquete / Tecnología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Equivalente anterior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Función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455217166"/>
                  </a:ext>
                </a:extLst>
              </a:tr>
              <a:tr h="144627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App móvil chofer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Flutter (iOS + Android)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React Native + Expo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UI del chofer en campo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505464457"/>
                  </a:ext>
                </a:extLst>
              </a:tr>
              <a:tr h="144627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Panel web admin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Flutter Web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Next.js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Dashboard admin en navegador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036810656"/>
                  </a:ext>
                </a:extLst>
              </a:tr>
              <a:tr h="144627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Estado global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flutter_riverpod ^2.5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Zustand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Providers reactivos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129991576"/>
                  </a:ext>
                </a:extLst>
              </a:tr>
              <a:tr h="144627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Navegación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go_router ^14.0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Expo Router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Routing declarativo por rol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970721395"/>
                  </a:ext>
                </a:extLst>
              </a:tr>
              <a:tr h="144627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Base de datos local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sqflite ^2.3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expo-sqlite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Cola offline persistente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219720096"/>
                  </a:ext>
                </a:extLst>
              </a:tr>
              <a:tr h="144627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Config ligera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shared_preferences ^2.3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MMKV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Sesión y preferencias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395504329"/>
                  </a:ext>
                </a:extLst>
              </a:tr>
              <a:tr h="144627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GPS tracking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geolocator ^12.0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expo-location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Posición en tiempo real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534118789"/>
                  </a:ext>
                </a:extLst>
              </a:tr>
              <a:tr h="144627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Cámara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camera ^0.11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expo-camera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Foto del manifiesto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589690276"/>
                  </a:ext>
                </a:extLst>
              </a:tr>
              <a:tr h="144627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Monitor de red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connectivity_plus ^6.0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NetInfo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Detectar online/offline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4042882249"/>
                  </a:ext>
                </a:extLst>
              </a:tr>
              <a:tr h="144627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Push notifications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firebase_messaging ^15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Expo Push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Alertas al chofer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015207406"/>
                  </a:ext>
                </a:extLst>
              </a:tr>
              <a:tr h="144627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Mapas (admin)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flutter_map ^7.0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Mapbox GL JS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Rastreo en panel web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355147133"/>
                  </a:ext>
                </a:extLst>
              </a:tr>
              <a:tr h="144627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PDF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 dirty="0" err="1">
                          <a:effectLst/>
                        </a:rPr>
                        <a:t>printing</a:t>
                      </a:r>
                      <a:r>
                        <a:rPr lang="es-VE" sz="900" dirty="0">
                          <a:effectLst/>
                        </a:rPr>
                        <a:t> ^5.13</a:t>
                      </a:r>
                      <a:endParaRPr lang="es-VE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pdf-lib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 dirty="0">
                          <a:effectLst/>
                        </a:rPr>
                        <a:t>Generar y compartir </a:t>
                      </a:r>
                      <a:r>
                        <a:rPr lang="es-VE" sz="900" dirty="0" err="1">
                          <a:effectLst/>
                        </a:rPr>
                        <a:t>PDFs</a:t>
                      </a:r>
                      <a:endParaRPr lang="es-VE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643614770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A25BB377-4524-336C-7A91-33EF0BE11312}"/>
              </a:ext>
            </a:extLst>
          </p:cNvPr>
          <p:cNvSpPr txBox="1"/>
          <p:nvPr/>
        </p:nvSpPr>
        <p:spPr>
          <a:xfrm>
            <a:off x="1612900" y="31532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s-VE" sz="1800" b="1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2.2  </a:t>
            </a:r>
            <a:r>
              <a:rPr lang="es-VE" sz="1800" b="1" dirty="0" err="1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Backend</a:t>
            </a:r>
            <a:r>
              <a:rPr lang="es-VE" sz="1800" b="1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— </a:t>
            </a:r>
            <a:r>
              <a:rPr lang="es-VE" sz="1800" b="1" dirty="0" err="1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Supabase</a:t>
            </a:r>
            <a:r>
              <a:rPr lang="es-VE" sz="1800" b="1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s-VE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D2D16AC1-5F11-D1B8-0951-D05CF5F72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471711"/>
              </p:ext>
            </p:extLst>
          </p:nvPr>
        </p:nvGraphicFramePr>
        <p:xfrm>
          <a:off x="1727200" y="3585356"/>
          <a:ext cx="7327900" cy="10247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91264">
                  <a:extLst>
                    <a:ext uri="{9D8B030D-6E8A-4147-A177-3AD203B41FA5}">
                      <a16:colId xmlns:a16="http://schemas.microsoft.com/office/drawing/2014/main" val="2405666451"/>
                    </a:ext>
                  </a:extLst>
                </a:gridCol>
                <a:gridCol w="5536636">
                  <a:extLst>
                    <a:ext uri="{9D8B030D-6E8A-4147-A177-3AD203B41FA5}">
                      <a16:colId xmlns:a16="http://schemas.microsoft.com/office/drawing/2014/main" val="790964423"/>
                    </a:ext>
                  </a:extLst>
                </a:gridCol>
              </a:tblGrid>
              <a:tr h="170791"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Servicio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Función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953006096"/>
                  </a:ext>
                </a:extLst>
              </a:tr>
              <a:tr h="170791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Supabase Auth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Autenticación con JWT y roles (admin / chofer / cliente_externo)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312405462"/>
                  </a:ext>
                </a:extLst>
              </a:tr>
              <a:tr h="170791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PostgreSQL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Base de datos principal con 8 tablas y Row Level Security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355322879"/>
                  </a:ext>
                </a:extLst>
              </a:tr>
              <a:tr h="170791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Supabase Storage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Buckets para PDFs, fotos de evidencia y comprobantes de pago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902134561"/>
                  </a:ext>
                </a:extLst>
              </a:tr>
              <a:tr h="170791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Supabase Realtime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GPS en vivo: posición del chofer → dashboard del admin sin polling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4149403616"/>
                  </a:ext>
                </a:extLst>
              </a:tr>
              <a:tr h="170791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Edge Functions (Deno)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 dirty="0">
                          <a:effectLst/>
                        </a:rPr>
                        <a:t>OCR, generación de PDF, validación de entregas, optimización de ruta</a:t>
                      </a:r>
                      <a:endParaRPr lang="es-VE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957070778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EF122816-19D7-F9AF-AE0B-96F918FB17F3}"/>
              </a:ext>
            </a:extLst>
          </p:cNvPr>
          <p:cNvSpPr txBox="1"/>
          <p:nvPr/>
        </p:nvSpPr>
        <p:spPr>
          <a:xfrm>
            <a:off x="1612900" y="46758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s-VE" sz="1800" b="1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2.3  Servicios externos</a:t>
            </a:r>
            <a:endParaRPr lang="es-VE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97327D31-39BD-3FC8-FE3B-4E4734AAFD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459738"/>
              </p:ext>
            </p:extLst>
          </p:nvPr>
        </p:nvGraphicFramePr>
        <p:xfrm>
          <a:off x="1739900" y="5131004"/>
          <a:ext cx="7315200" cy="823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88160">
                  <a:extLst>
                    <a:ext uri="{9D8B030D-6E8A-4147-A177-3AD203B41FA5}">
                      <a16:colId xmlns:a16="http://schemas.microsoft.com/office/drawing/2014/main" val="1782346416"/>
                    </a:ext>
                  </a:extLst>
                </a:gridCol>
                <a:gridCol w="2113280">
                  <a:extLst>
                    <a:ext uri="{9D8B030D-6E8A-4147-A177-3AD203B41FA5}">
                      <a16:colId xmlns:a16="http://schemas.microsoft.com/office/drawing/2014/main" val="574438432"/>
                    </a:ext>
                  </a:extLst>
                </a:gridCol>
                <a:gridCol w="3413760">
                  <a:extLst>
                    <a:ext uri="{9D8B030D-6E8A-4147-A177-3AD203B41FA5}">
                      <a16:colId xmlns:a16="http://schemas.microsoft.com/office/drawing/2014/main" val="4099418155"/>
                    </a:ext>
                  </a:extLst>
                </a:gridCol>
              </a:tblGrid>
              <a:tr h="164648"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Servicio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Proveedor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Función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4172805942"/>
                  </a:ext>
                </a:extLst>
              </a:tr>
              <a:tr h="164648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OCR / Extracción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Google Cloud Vision API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Leer manifiestos impresos → JSON de entregas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105237774"/>
                  </a:ext>
                </a:extLst>
              </a:tr>
              <a:tr h="164648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Geocodificación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Google Maps Geocoding API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Dirección de texto → coordenadas lat/lng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610069586"/>
                  </a:ext>
                </a:extLst>
              </a:tr>
              <a:tr h="164648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Optimización ruta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Google Routes API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Ordenar entregas por distancia/tiempo (TSP)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995855854"/>
                  </a:ext>
                </a:extLst>
              </a:tr>
              <a:tr h="164648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Push (alternativa)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FCM (Firebase Cloud Messaging)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 dirty="0">
                          <a:effectLst/>
                        </a:rPr>
                        <a:t>Notificaciones </a:t>
                      </a:r>
                      <a:r>
                        <a:rPr lang="es-VE" sz="900" dirty="0" err="1">
                          <a:effectLst/>
                        </a:rPr>
                        <a:t>push</a:t>
                      </a:r>
                      <a:r>
                        <a:rPr lang="es-VE" sz="900" dirty="0">
                          <a:effectLst/>
                        </a:rPr>
                        <a:t> al chofer vía </a:t>
                      </a:r>
                      <a:r>
                        <a:rPr lang="es-VE" sz="900" dirty="0" err="1">
                          <a:effectLst/>
                        </a:rPr>
                        <a:t>Firebase</a:t>
                      </a:r>
                      <a:endParaRPr lang="es-VE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531508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155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C52B511-96BF-10F0-990C-FBF6B98AF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862" y="277368"/>
            <a:ext cx="7581138" cy="4846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6AA8984-9F8F-FD77-C4D6-F4F6C5894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862" y="857758"/>
            <a:ext cx="8673338" cy="501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84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A71E197-81F0-D7CF-7FFA-0A99F8465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662" y="201168"/>
            <a:ext cx="6400038" cy="52273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8E6784E-EDA5-4DC9-FAEC-E55DF2CD29BF}"/>
              </a:ext>
            </a:extLst>
          </p:cNvPr>
          <p:cNvSpPr txBox="1"/>
          <p:nvPr/>
        </p:nvSpPr>
        <p:spPr>
          <a:xfrm>
            <a:off x="851662" y="856734"/>
            <a:ext cx="1675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s-VE" sz="1800" b="1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4.1  usuarios</a:t>
            </a:r>
            <a:endParaRPr lang="es-VE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B101B0B-6FAC-06D2-C754-B5C1D8FA4DE1}"/>
              </a:ext>
            </a:extLst>
          </p:cNvPr>
          <p:cNvSpPr txBox="1"/>
          <p:nvPr/>
        </p:nvSpPr>
        <p:spPr>
          <a:xfrm>
            <a:off x="648462" y="1358900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marR="127000">
              <a:spcBef>
                <a:spcPts val="400"/>
              </a:spcBef>
              <a:spcAft>
                <a:spcPts val="400"/>
              </a:spcAft>
            </a:pPr>
            <a:r>
              <a:rPr lang="es-VE" sz="80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-- ═══════════════════════════════════════════════════════</a:t>
            </a:r>
            <a:br>
              <a:rPr lang="es-VE" sz="80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80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-- TABLA: usuarios  |  Roles: </a:t>
            </a:r>
            <a:r>
              <a:rPr lang="es-VE" sz="800" dirty="0" err="1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admin</a:t>
            </a:r>
            <a:r>
              <a:rPr lang="es-VE" sz="80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| chofer | </a:t>
            </a:r>
            <a:r>
              <a:rPr lang="es-VE" sz="800" dirty="0" err="1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cliente_externo</a:t>
            </a:r>
            <a:br>
              <a:rPr lang="es-VE" sz="80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80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-- ═══════════════════════════════════════════════════════</a:t>
            </a:r>
            <a:br>
              <a:rPr lang="es-VE" sz="80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80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CREATE TABLE usuarios (</a:t>
            </a:r>
            <a:b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id            </a:t>
            </a:r>
            <a:r>
              <a:rPr lang="es-VE" sz="80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uuid</a:t>
            </a: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PRIMARY KEY DEFAULT </a:t>
            </a:r>
            <a:r>
              <a:rPr lang="es-VE" sz="80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gen_random_uuid</a:t>
            </a: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(),</a:t>
            </a:r>
            <a:b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nombre        </a:t>
            </a:r>
            <a:r>
              <a:rPr lang="es-VE" sz="80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NOT NULL,</a:t>
            </a:r>
            <a:b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email         </a:t>
            </a:r>
            <a:r>
              <a:rPr lang="es-VE" sz="80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UNIQUE NOT NULL,</a:t>
            </a:r>
            <a:b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80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telefono</a:t>
            </a: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</a:t>
            </a:r>
            <a:r>
              <a:rPr lang="es-VE" sz="80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,</a:t>
            </a:r>
            <a:b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rol           </a:t>
            </a:r>
            <a:r>
              <a:rPr lang="es-VE" sz="80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NOT NULL CHECK (rol IN ('</a:t>
            </a:r>
            <a:r>
              <a:rPr lang="es-VE" sz="80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admin</a:t>
            </a: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','chofer','</a:t>
            </a:r>
            <a:r>
              <a:rPr lang="es-VE" sz="80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cliente_externo</a:t>
            </a: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')),</a:t>
            </a:r>
            <a:b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activo        </a:t>
            </a:r>
            <a:r>
              <a:rPr lang="es-VE" sz="80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boolean</a:t>
            </a: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DEFAULT true,</a:t>
            </a:r>
            <a:b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80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avatar_url</a:t>
            </a: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</a:t>
            </a:r>
            <a:r>
              <a:rPr lang="es-VE" sz="80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,</a:t>
            </a:r>
            <a:b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80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push_token</a:t>
            </a: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</a:t>
            </a:r>
            <a:r>
              <a:rPr lang="es-VE" sz="80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,   -- FCM token para </a:t>
            </a:r>
            <a:r>
              <a:rPr lang="es-VE" sz="80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Firebase</a:t>
            </a: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Cloud </a:t>
            </a:r>
            <a:r>
              <a:rPr lang="es-VE" sz="80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Messaging</a:t>
            </a:r>
            <a:b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80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created_at</a:t>
            </a: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</a:t>
            </a:r>
            <a:r>
              <a:rPr lang="es-VE" sz="80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timestamp</a:t>
            </a: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WITH TIME ZONE DEFAULT </a:t>
            </a:r>
            <a:r>
              <a:rPr lang="es-VE" sz="80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now</a:t>
            </a: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(),</a:t>
            </a:r>
            <a:b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80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updated_at</a:t>
            </a: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</a:t>
            </a:r>
            <a:r>
              <a:rPr lang="es-VE" sz="80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timestamp</a:t>
            </a: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WITH TIME ZONE DEFAULT </a:t>
            </a:r>
            <a:r>
              <a:rPr lang="es-VE" sz="80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now</a:t>
            </a: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()</a:t>
            </a:r>
            <a:b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80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);</a:t>
            </a:r>
            <a:endParaRPr lang="es-VE" sz="2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5FC81C6-6F3C-4C7B-ED04-E8C0F2007C9A}"/>
              </a:ext>
            </a:extLst>
          </p:cNvPr>
          <p:cNvSpPr txBox="1"/>
          <p:nvPr/>
        </p:nvSpPr>
        <p:spPr>
          <a:xfrm>
            <a:off x="6375400" y="856734"/>
            <a:ext cx="581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n-US" sz="1800" b="1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4.2  </a:t>
            </a:r>
            <a:r>
              <a:rPr lang="en-US" sz="1800" b="1" dirty="0" err="1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camiones</a:t>
            </a:r>
            <a:endParaRPr lang="es-VE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5C6E225-60AC-14C5-5406-A0E3D6A99AF5}"/>
              </a:ext>
            </a:extLst>
          </p:cNvPr>
          <p:cNvSpPr txBox="1"/>
          <p:nvPr/>
        </p:nvSpPr>
        <p:spPr>
          <a:xfrm>
            <a:off x="6172200" y="14838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marR="127000">
              <a:spcBef>
                <a:spcPts val="400"/>
              </a:spcBef>
              <a:spcAft>
                <a:spcPts val="400"/>
              </a:spcAft>
            </a:pPr>
            <a:r>
              <a:rPr lang="en-US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-- TABLA: </a:t>
            </a:r>
            <a:r>
              <a:rPr lang="en-US" sz="750" dirty="0" err="1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camiones</a:t>
            </a:r>
            <a:b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CREATE TABLE </a:t>
            </a:r>
            <a:r>
              <a:rPr lang="en-US" sz="750" dirty="0" err="1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camiones</a:t>
            </a: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(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id             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uuid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PRIMARY KEY DEFAULT 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gen_random_uuid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(),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numero_unidad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text NOT NULL UNIQUE,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placa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  text NOT NULL,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marca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  text,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modelo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 text,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anio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   integer,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capacidad_kg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numeric(10,2),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activo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 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boolean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DEFAULT true,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created_at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timestamp WITH TIME ZONE DEFAULT now()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);</a:t>
            </a:r>
            <a:endParaRPr lang="es-VE" sz="1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F355E1B-1895-FECD-93C2-07605D0BE27F}"/>
              </a:ext>
            </a:extLst>
          </p:cNvPr>
          <p:cNvSpPr txBox="1"/>
          <p:nvPr/>
        </p:nvSpPr>
        <p:spPr>
          <a:xfrm>
            <a:off x="851662" y="3297892"/>
            <a:ext cx="3936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s-VE" sz="1800" b="1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4.3  rutas</a:t>
            </a:r>
            <a:endParaRPr lang="es-VE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2399DE1-ECDA-9842-5DF9-91E1EB60E4FC}"/>
              </a:ext>
            </a:extLst>
          </p:cNvPr>
          <p:cNvSpPr txBox="1"/>
          <p:nvPr/>
        </p:nvSpPr>
        <p:spPr>
          <a:xfrm>
            <a:off x="623062" y="3815243"/>
            <a:ext cx="609600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marR="127000">
              <a:spcBef>
                <a:spcPts val="400"/>
              </a:spcBef>
              <a:spcAft>
                <a:spcPts val="400"/>
              </a:spcAft>
            </a:pPr>
            <a:r>
              <a:rPr lang="es-VE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-- TABLA: rutas  |  Estados: borrador | asignada | </a:t>
            </a:r>
            <a:r>
              <a:rPr lang="es-VE" sz="750" dirty="0" err="1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en_curso</a:t>
            </a:r>
            <a:r>
              <a:rPr lang="es-VE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| completada | cancelada</a:t>
            </a:r>
            <a:br>
              <a:rPr lang="es-VE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CREATE TABLE rutas (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id     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uuid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PRIMARY KEY DEFAULT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gen_random_uuid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(),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chofer_id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uuid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REFERENCES usuarios(id) ON DELETE SET NULL,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camion_id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uuid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REFERENCES camiones(id) ON DELETE SET NULL,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empresa_cliente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NOT NULL,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fecha           date NOT NULL,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origen 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NOT NULL,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destino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NOT NULL,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estado 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NOT NULL DEFAULT 'borrador'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          CHECK (estado IN ('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borrador','asignada','en_curso','completada','cancelada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')),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hora_inicio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timestamp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WITH TIME ZONE,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hora_fin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timestamp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WITH TIME ZONE,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notas  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created_by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uuid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REFERENCES usuarios(id),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created_at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timestamp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WITH TIME ZONE DEFAULT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now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()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);</a:t>
            </a:r>
            <a:br>
              <a:rPr lang="es-VE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CREATE INDEX </a:t>
            </a:r>
            <a:r>
              <a:rPr lang="es-VE" sz="750" dirty="0" err="1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idx_rutas_chofer_fecha</a:t>
            </a:r>
            <a:r>
              <a:rPr lang="es-VE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ON rutas(</a:t>
            </a:r>
            <a:r>
              <a:rPr lang="es-VE" sz="750" dirty="0" err="1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chofer_id</a:t>
            </a:r>
            <a:r>
              <a:rPr lang="es-VE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, fecha);</a:t>
            </a:r>
            <a:endParaRPr lang="es-VE" sz="1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91A6123-A18C-FA6D-5AC8-E9D9203C0000}"/>
              </a:ext>
            </a:extLst>
          </p:cNvPr>
          <p:cNvSpPr txBox="1"/>
          <p:nvPr/>
        </p:nvSpPr>
        <p:spPr>
          <a:xfrm>
            <a:off x="6471031" y="3281590"/>
            <a:ext cx="4628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s-VE" sz="1800" b="1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4.4  manifiestos</a:t>
            </a:r>
            <a:endParaRPr lang="es-VE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D0AB770-8C74-F265-B85C-0A41145BE216}"/>
              </a:ext>
            </a:extLst>
          </p:cNvPr>
          <p:cNvSpPr txBox="1"/>
          <p:nvPr/>
        </p:nvSpPr>
        <p:spPr>
          <a:xfrm>
            <a:off x="6172200" y="3798941"/>
            <a:ext cx="6134100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marR="127000">
              <a:spcBef>
                <a:spcPts val="400"/>
              </a:spcBef>
              <a:spcAft>
                <a:spcPts val="400"/>
              </a:spcAft>
            </a:pPr>
            <a:r>
              <a:rPr lang="es-VE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-- TABLA: manifiestos</a:t>
            </a:r>
            <a:br>
              <a:rPr lang="es-VE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CREATE TABLE manifiestos (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id       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uuid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PRIMARY KEY DEFAULT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gen_random_uuid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(),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ruta_id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uuid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REFERENCES rutas(id) ON DELETE CASCADE,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chofer_id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uuid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REFERENCES usuarios(id) ON DELETE SET NULL,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numero_manifiesto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NOT NULL,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empresa_cliente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NOT NULL,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fecha_servicio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date NOT NULL,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pdf_url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foto_original_url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ocr_raw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jsonb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,   -- Respuesta cruda de Google Cloud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Vision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total_entregas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integer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DEFAULT 0,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total_kg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numeric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(10,2) DEFAULT 0,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estado   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DEFAULT 'procesando'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            CHECK (estado IN ('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procesando','activo','completado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')),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created_at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timestamp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WITH TIME ZONE DEFAULT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now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()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);</a:t>
            </a:r>
            <a:endParaRPr lang="es-VE" sz="1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850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838F250-AE39-3534-235A-749042C34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662" y="201168"/>
            <a:ext cx="6400038" cy="52273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990DB27-979B-7103-8655-5B905986F260}"/>
              </a:ext>
            </a:extLst>
          </p:cNvPr>
          <p:cNvSpPr txBox="1"/>
          <p:nvPr/>
        </p:nvSpPr>
        <p:spPr>
          <a:xfrm>
            <a:off x="851662" y="932934"/>
            <a:ext cx="4495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s-VE" sz="1800" b="1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4.5  entregas</a:t>
            </a:r>
            <a:endParaRPr lang="es-VE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D2D82CE-2D7A-BEF7-839C-1BA94059A992}"/>
              </a:ext>
            </a:extLst>
          </p:cNvPr>
          <p:cNvSpPr txBox="1"/>
          <p:nvPr/>
        </p:nvSpPr>
        <p:spPr>
          <a:xfrm>
            <a:off x="533400" y="1302266"/>
            <a:ext cx="6096000" cy="2746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marR="127000">
              <a:spcBef>
                <a:spcPts val="400"/>
              </a:spcBef>
              <a:spcAft>
                <a:spcPts val="400"/>
              </a:spcAft>
            </a:pPr>
            <a:r>
              <a:rPr lang="es-VE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-- TABLA: entregas  |  Estados: pendiente | </a:t>
            </a:r>
            <a:r>
              <a:rPr lang="es-VE" sz="750" dirty="0" err="1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en_camino</a:t>
            </a:r>
            <a:r>
              <a:rPr lang="es-VE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| entregado | fallido</a:t>
            </a:r>
            <a:br>
              <a:rPr lang="es-VE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CREATE TABLE entregas (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id         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uuid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PRIMARY KEY DEFAULT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gen_random_uuid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(),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manifiesto_id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uuid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REFERENCES manifiestos(id) ON DELETE CASCADE,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numero_entrega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NOT NULL,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cliente_nombre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direccion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NOT NULL,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ciudad     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kilos      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numeric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(8,2),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estado     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NOT NULL DEFAULT 'pendiente'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              CHECK (estado IN ('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pendiente','en_camino','entregado','fallido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')),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orden_ruta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integer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lat_destino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numeric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(10,7),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lng_destino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numeric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(10,7),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lat_entrega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numeric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(10,7),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lng_entrega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numeric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(10,7),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foto_evidencia_url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notas_entrega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entregado_at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timestamp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WITH TIME ZONE,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created_at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timestamp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WITH TIME ZONE DEFAULT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now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()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);</a:t>
            </a:r>
            <a:br>
              <a:rPr lang="es-VE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CREATE INDEX </a:t>
            </a:r>
            <a:r>
              <a:rPr lang="es-VE" sz="750" dirty="0" err="1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idx_entregas_manifiesto</a:t>
            </a:r>
            <a:r>
              <a:rPr lang="es-VE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ON entregas(</a:t>
            </a:r>
            <a:r>
              <a:rPr lang="es-VE" sz="750" dirty="0" err="1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manifiesto_id</a:t>
            </a:r>
            <a:r>
              <a:rPr lang="es-VE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);</a:t>
            </a:r>
            <a:br>
              <a:rPr lang="es-VE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CREATE UNIQUE INDEX </a:t>
            </a:r>
            <a:r>
              <a:rPr lang="es-VE" sz="750" dirty="0" err="1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uix_entrega</a:t>
            </a:r>
            <a:r>
              <a:rPr lang="es-VE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ON entregas(</a:t>
            </a:r>
            <a:r>
              <a:rPr lang="es-VE" sz="750" dirty="0" err="1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manifiesto_id</a:t>
            </a:r>
            <a:r>
              <a:rPr lang="es-VE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, </a:t>
            </a:r>
            <a:r>
              <a:rPr lang="es-VE" sz="750" dirty="0" err="1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numero_entrega</a:t>
            </a:r>
            <a:r>
              <a:rPr lang="es-VE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);</a:t>
            </a:r>
            <a:endParaRPr lang="es-VE" sz="1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83C3425-CC48-7F28-11A8-B89FE9EB8685}"/>
              </a:ext>
            </a:extLst>
          </p:cNvPr>
          <p:cNvSpPr txBox="1"/>
          <p:nvPr/>
        </p:nvSpPr>
        <p:spPr>
          <a:xfrm>
            <a:off x="6032500" y="9329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s-VE" sz="1800" b="1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4.6  </a:t>
            </a:r>
            <a:r>
              <a:rPr lang="es-VE" sz="1800" b="1" dirty="0" err="1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ubicaciones_gps</a:t>
            </a:r>
            <a:endParaRPr lang="es-VE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57FBD57-F7FF-D0BE-61D5-0672ECE6DAE2}"/>
              </a:ext>
            </a:extLst>
          </p:cNvPr>
          <p:cNvSpPr txBox="1"/>
          <p:nvPr/>
        </p:nvSpPr>
        <p:spPr>
          <a:xfrm>
            <a:off x="5905500" y="1371600"/>
            <a:ext cx="60960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marR="127000">
              <a:spcBef>
                <a:spcPts val="400"/>
              </a:spcBef>
              <a:spcAft>
                <a:spcPts val="400"/>
              </a:spcAft>
            </a:pPr>
            <a:r>
              <a:rPr lang="en-US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-- TABLA: </a:t>
            </a:r>
            <a:r>
              <a:rPr lang="en-US" sz="750" dirty="0" err="1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ubicaciones_gps</a:t>
            </a:r>
            <a:r>
              <a:rPr lang="en-US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(</a:t>
            </a:r>
            <a:r>
              <a:rPr lang="en-US" sz="750" dirty="0" err="1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particionada</a:t>
            </a:r>
            <a:r>
              <a:rPr lang="en-US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</a:t>
            </a:r>
            <a:r>
              <a:rPr lang="en-US" sz="750" dirty="0" err="1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por</a:t>
            </a:r>
            <a:r>
              <a:rPr lang="en-US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</a:t>
            </a:r>
            <a:r>
              <a:rPr lang="en-US" sz="750" dirty="0" err="1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mes</a:t>
            </a:r>
            <a:r>
              <a:rPr lang="en-US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)</a:t>
            </a:r>
            <a:b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CREATE TABLE </a:t>
            </a:r>
            <a:r>
              <a:rPr lang="en-US" sz="750" dirty="0" err="1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ubicaciones_gps</a:t>
            </a: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(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id             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bigint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GENERATED ALWAYS AS IDENTITY PRIMARY KEY,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chofer_id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uuid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REFERENCES 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usuarios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(id) ON DELETE CASCADE,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ruta_id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uuid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REFERENCES 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rutas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(id) ON DELETE CASCADE,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latitud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numeric(10,7) NOT NULL,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longitud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numeric(10,7) NOT NULL,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velocidad_kmh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numeric(5,1),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registrado_at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timestamp WITH TIME ZONE DEFAULT now()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) PARTITION BY RANGE (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registrado_at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);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b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CREATE TABLE ubicaciones_gps_2026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PARTITION OF 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ubicaciones_gps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FOR VALUES FROM ('2026-01-01') TO ('2027-01-01');</a:t>
            </a:r>
            <a:endParaRPr lang="es-VE" sz="1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62E31E1-E187-96CD-BBBC-57473B6DDBE3}"/>
              </a:ext>
            </a:extLst>
          </p:cNvPr>
          <p:cNvSpPr txBox="1"/>
          <p:nvPr/>
        </p:nvSpPr>
        <p:spPr>
          <a:xfrm>
            <a:off x="851662" y="41391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s-VE" sz="1800" b="1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4.7  </a:t>
            </a:r>
            <a:r>
              <a:rPr lang="es-VE" sz="1800" b="1" dirty="0" err="1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pagos_choferes</a:t>
            </a:r>
            <a:endParaRPr lang="es-VE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C713C99-EA17-984F-EA2F-CF70B0A8C1E8}"/>
              </a:ext>
            </a:extLst>
          </p:cNvPr>
          <p:cNvSpPr txBox="1"/>
          <p:nvPr/>
        </p:nvSpPr>
        <p:spPr>
          <a:xfrm>
            <a:off x="546100" y="4540659"/>
            <a:ext cx="6096000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marR="127000">
              <a:spcBef>
                <a:spcPts val="400"/>
              </a:spcBef>
              <a:spcAft>
                <a:spcPts val="400"/>
              </a:spcAft>
            </a:pPr>
            <a:r>
              <a:rPr lang="es-VE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-- TABLA: </a:t>
            </a:r>
            <a:r>
              <a:rPr lang="es-VE" sz="750" dirty="0" err="1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pagos_choferes</a:t>
            </a:r>
            <a:r>
              <a:rPr lang="es-VE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|  Estados: borrador | aprobado | pagado</a:t>
            </a:r>
            <a:br>
              <a:rPr lang="es-VE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CREATE TABLE </a:t>
            </a:r>
            <a:r>
              <a:rPr lang="es-VE" sz="750" dirty="0" err="1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pagos_choferes</a:t>
            </a:r>
            <a:r>
              <a:rPr lang="es-VE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(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id     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uuid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PRIMARY KEY DEFAULT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gen_random_uuid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(),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chofer_id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uuid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REFERENCES usuarios(id) ON DELETE CASCADE,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periodo_inicio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date NOT NULL,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periodo_fin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date NOT NULL,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monto_base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numeric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(10,2) NOT NULL DEFAULT 0,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extras 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numeric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(10,2) DEFAULT 0,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deducciones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numeric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(10,2) DEFAULT 0,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total  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numeric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(10,2) GENERATED ALWAYS AS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          (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monto_base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+ extras - deducciones) STORED,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estado 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DEFAULT 'borrador'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          CHECK (estado IN ('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borrador','aprobado','pagado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')),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comprobante_url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aprobado_por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uuid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REFERENCES usuarios(id),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created_at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timestamp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WITH TIME ZONE DEFAULT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now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()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);</a:t>
            </a:r>
            <a:endParaRPr lang="es-VE" sz="1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DEF1C50-957B-0872-DB68-DAB58FC37017}"/>
              </a:ext>
            </a:extLst>
          </p:cNvPr>
          <p:cNvSpPr txBox="1"/>
          <p:nvPr/>
        </p:nvSpPr>
        <p:spPr>
          <a:xfrm>
            <a:off x="6032500" y="31119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s-VE" sz="1800" b="1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4.8  </a:t>
            </a:r>
            <a:r>
              <a:rPr lang="es-VE" sz="1800" b="1" dirty="0" err="1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extras_servicio</a:t>
            </a:r>
            <a:endParaRPr lang="es-VE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5BE70D9-B931-E511-C5DB-0B86725C9FE3}"/>
              </a:ext>
            </a:extLst>
          </p:cNvPr>
          <p:cNvSpPr txBox="1"/>
          <p:nvPr/>
        </p:nvSpPr>
        <p:spPr>
          <a:xfrm>
            <a:off x="5957062" y="3481273"/>
            <a:ext cx="6096000" cy="1592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marR="127000">
              <a:spcBef>
                <a:spcPts val="400"/>
              </a:spcBef>
              <a:spcAft>
                <a:spcPts val="400"/>
              </a:spcAft>
            </a:pPr>
            <a:r>
              <a:rPr lang="es-VE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-- TABLA: </a:t>
            </a:r>
            <a:r>
              <a:rPr lang="es-VE" sz="750" dirty="0" err="1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extras_servicio</a:t>
            </a:r>
            <a:r>
              <a:rPr lang="es-VE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|  Tipos: pickup | espera | combustible | otro</a:t>
            </a:r>
            <a:br>
              <a:rPr lang="es-VE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CREATE TABLE </a:t>
            </a:r>
            <a:r>
              <a:rPr lang="es-VE" sz="750" dirty="0" err="1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extras_servicio</a:t>
            </a:r>
            <a:r>
              <a:rPr lang="es-VE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(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id   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uuid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PRIMARY KEY DEFAULT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gen_random_uuid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(),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chofer_id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uuid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REFERENCES usuarios(id) ON DELETE CASCADE,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ruta_id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uuid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REFERENCES rutas(id) ON DELETE CASCADE,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tipo 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NOT NULL CHECK (tipo IN ('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pickup','espera','combustible','otro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')),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descripcion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monto   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numeric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(8,2) NOT NULL,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evidencia_url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text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aprobado  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boolean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DEFAULT false,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aprobado_por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uuid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REFERENCES usuarios(id),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created_at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timestamp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WITH TIME ZONE DEFAULT </a:t>
            </a:r>
            <a:r>
              <a:rPr lang="es-VE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now</a:t>
            </a: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()</a:t>
            </a:r>
            <a:b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s-VE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);</a:t>
            </a:r>
            <a:endParaRPr lang="es-VE" sz="1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628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D9AC216-9A4C-721E-D40E-3A6E2F995E24}"/>
              </a:ext>
            </a:extLst>
          </p:cNvPr>
          <p:cNvSpPr txBox="1"/>
          <p:nvPr/>
        </p:nvSpPr>
        <p:spPr>
          <a:xfrm>
            <a:off x="762000" y="990521"/>
            <a:ext cx="10795000" cy="63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s-VE" sz="1600" b="1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4.9  </a:t>
            </a:r>
            <a:r>
              <a:rPr lang="es-VE" sz="1600" b="1" dirty="0" err="1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Row</a:t>
            </a:r>
            <a:r>
              <a:rPr lang="es-VE" sz="1600" b="1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s-VE" sz="1600" b="1" dirty="0" err="1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Level</a:t>
            </a:r>
            <a:r>
              <a:rPr lang="es-VE" sz="1600" b="1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Security</a:t>
            </a:r>
            <a:endParaRPr lang="es-VE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Aft>
                <a:spcPts val="400"/>
              </a:spcAft>
            </a:pPr>
            <a:r>
              <a:rPr lang="es-VE" sz="1600" dirty="0" err="1">
                <a:solidFill>
                  <a:srgbClr val="44444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Supabase</a:t>
            </a:r>
            <a:r>
              <a:rPr lang="es-VE" sz="1600" dirty="0">
                <a:solidFill>
                  <a:srgbClr val="44444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ejecuta estas políticas a nivel de base de datos. Ninguna consulta del cliente puede saltárselas.</a:t>
            </a:r>
            <a:endParaRPr lang="es-VE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E23DEF4-A5D9-B972-25FD-37C6CD566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662" y="201168"/>
            <a:ext cx="6400038" cy="52273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1C2317B-08D6-EABD-AC53-62DF5F21AC6C}"/>
              </a:ext>
            </a:extLst>
          </p:cNvPr>
          <p:cNvSpPr txBox="1"/>
          <p:nvPr/>
        </p:nvSpPr>
        <p:spPr>
          <a:xfrm>
            <a:off x="851662" y="1777264"/>
            <a:ext cx="6096000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marR="127000">
              <a:spcBef>
                <a:spcPts val="400"/>
              </a:spcBef>
              <a:spcAft>
                <a:spcPts val="400"/>
              </a:spcAft>
            </a:pPr>
            <a:r>
              <a:rPr lang="en-US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-- ═══════════════════════════════════════ ROW LEVEL SECURITY</a:t>
            </a:r>
            <a:b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ALTER TABLE </a:t>
            </a:r>
            <a:r>
              <a:rPr lang="en-US" sz="750" dirty="0" err="1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usuarios</a:t>
            </a: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ENABLE ROW LEVEL SECURITY;</a:t>
            </a:r>
            <a:b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ALTER TABLE </a:t>
            </a:r>
            <a:r>
              <a:rPr lang="en-US" sz="750" dirty="0" err="1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camiones</a:t>
            </a: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ENABLE ROW LEVEL SECURITY;</a:t>
            </a:r>
            <a:b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ALTER TABLE </a:t>
            </a:r>
            <a:r>
              <a:rPr lang="en-US" sz="750" dirty="0" err="1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rutas</a:t>
            </a: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   ENABLE ROW LEVEL SECURITY;</a:t>
            </a:r>
            <a:b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ALTER TABLE </a:t>
            </a:r>
            <a:r>
              <a:rPr lang="en-US" sz="750" dirty="0" err="1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manifiestos</a:t>
            </a: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ENABLE ROW LEVEL SECURITY;</a:t>
            </a:r>
            <a:b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ALTER TABLE </a:t>
            </a:r>
            <a:r>
              <a:rPr lang="en-US" sz="750" dirty="0" err="1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entregas</a:t>
            </a: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      ENABLE ROW LEVEL SECURITY;</a:t>
            </a:r>
            <a:b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ALTER TABLE </a:t>
            </a:r>
            <a:r>
              <a:rPr lang="en-US" sz="750" dirty="0" err="1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ubicaciones_gps</a:t>
            </a: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ENABLE ROW LEVEL SECURITY;</a:t>
            </a:r>
            <a:b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ALTER TABLE </a:t>
            </a:r>
            <a:r>
              <a:rPr lang="en-US" sz="750" dirty="0" err="1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pagos_choferes</a:t>
            </a: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ENABLE ROW LEVEL SECURITY;</a:t>
            </a:r>
            <a:b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ALTER TABLE </a:t>
            </a:r>
            <a:r>
              <a:rPr lang="en-US" sz="750" dirty="0" err="1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extras_servicio</a:t>
            </a: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ENABLE ROW LEVEL SECURITY;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br>
              <a:rPr lang="en-US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-- Admin </a:t>
            </a:r>
            <a:r>
              <a:rPr lang="en-US" sz="750" dirty="0" err="1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ve</a:t>
            </a:r>
            <a:r>
              <a:rPr lang="en-US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y </a:t>
            </a:r>
            <a:r>
              <a:rPr lang="en-US" sz="750" dirty="0" err="1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modifica</a:t>
            </a:r>
            <a:r>
              <a:rPr lang="en-US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</a:t>
            </a:r>
            <a:r>
              <a:rPr lang="en-US" sz="750" dirty="0" err="1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todo</a:t>
            </a:r>
            <a:b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CREATE POLICY "</a:t>
            </a:r>
            <a:r>
              <a:rPr lang="en-US" sz="750" dirty="0" err="1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admin_all</a:t>
            </a: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" ON </a:t>
            </a:r>
            <a:r>
              <a:rPr lang="en-US" sz="750" dirty="0" err="1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rutas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FOR ALL USING (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auth.jwt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() -&gt;&gt; '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rol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' = 'admin');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br>
              <a:rPr lang="en-US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-- </a:t>
            </a:r>
            <a:r>
              <a:rPr lang="en-US" sz="750" dirty="0" err="1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Chofer</a:t>
            </a:r>
            <a:r>
              <a:rPr lang="en-US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solo </a:t>
            </a:r>
            <a:r>
              <a:rPr lang="en-US" sz="750" dirty="0" err="1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ve</a:t>
            </a:r>
            <a:r>
              <a:rPr lang="en-US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sus </a:t>
            </a:r>
            <a:r>
              <a:rPr lang="en-US" sz="750" dirty="0" err="1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propias</a:t>
            </a:r>
            <a:r>
              <a:rPr lang="en-US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</a:t>
            </a:r>
            <a:r>
              <a:rPr lang="en-US" sz="750" dirty="0" err="1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rutas</a:t>
            </a:r>
            <a:b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CREATE POLICY "</a:t>
            </a:r>
            <a:r>
              <a:rPr lang="en-US" sz="750" dirty="0" err="1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chofer_rutas</a:t>
            </a: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" ON </a:t>
            </a:r>
            <a:r>
              <a:rPr lang="en-US" sz="750" dirty="0" err="1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rutas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FOR SELECT USING (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chofer_id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= 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auth.uid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());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br>
              <a:rPr lang="en-US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-- </a:t>
            </a:r>
            <a:r>
              <a:rPr lang="en-US" sz="750" dirty="0" err="1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Chofer</a:t>
            </a:r>
            <a:r>
              <a:rPr lang="en-US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solo </a:t>
            </a:r>
            <a:r>
              <a:rPr lang="en-US" sz="750" dirty="0" err="1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inserta</a:t>
            </a:r>
            <a:r>
              <a:rPr lang="en-US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</a:t>
            </a:r>
            <a:r>
              <a:rPr lang="en-US" sz="750" dirty="0" err="1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su</a:t>
            </a:r>
            <a:r>
              <a:rPr lang="en-US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</a:t>
            </a:r>
            <a:r>
              <a:rPr lang="en-US" sz="750" dirty="0" err="1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propia</a:t>
            </a:r>
            <a:r>
              <a:rPr lang="en-US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</a:t>
            </a:r>
            <a:r>
              <a:rPr lang="en-US" sz="750" dirty="0" err="1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posición</a:t>
            </a:r>
            <a:r>
              <a:rPr lang="en-US" sz="750" dirty="0">
                <a:solidFill>
                  <a:srgbClr val="4CAF5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GPS</a:t>
            </a:r>
            <a:b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CREATE POLICY "</a:t>
            </a:r>
            <a:r>
              <a:rPr lang="en-US" sz="750" dirty="0" err="1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chofer_gps</a:t>
            </a:r>
            <a:r>
              <a:rPr lang="en-US" sz="750" dirty="0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" ON </a:t>
            </a:r>
            <a:r>
              <a:rPr lang="en-US" sz="750" dirty="0" err="1">
                <a:solidFill>
                  <a:srgbClr val="0D47A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ubicaciones_gps</a:t>
            </a:r>
            <a:b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</a:b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 FOR INSERT WITH CHECK (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chofer_id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 = </a:t>
            </a:r>
            <a:r>
              <a:rPr lang="en-US" sz="750" dirty="0" err="1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auth.uid</a:t>
            </a:r>
            <a:r>
              <a:rPr lang="en-US" sz="750" dirty="0">
                <a:solidFill>
                  <a:srgbClr val="212121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());</a:t>
            </a:r>
            <a:endParaRPr lang="es-VE" sz="1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700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C03221F-00F3-C660-7372-0660FD751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62" y="277368"/>
            <a:ext cx="6170676" cy="49733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D8231571-ECB8-0CA6-597F-404C37F76044}"/>
              </a:ext>
            </a:extLst>
          </p:cNvPr>
          <p:cNvSpPr txBox="1"/>
          <p:nvPr/>
        </p:nvSpPr>
        <p:spPr>
          <a:xfrm>
            <a:off x="788162" y="9837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s-VE" sz="1800" b="1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5.1  Flujo OCR — foto a ruta optimizada</a:t>
            </a:r>
            <a:endParaRPr lang="es-VE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24D3B6FB-06B5-E96E-00B9-57329DD3F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576712"/>
              </p:ext>
            </p:extLst>
          </p:nvPr>
        </p:nvGraphicFramePr>
        <p:xfrm>
          <a:off x="1016000" y="1562100"/>
          <a:ext cx="7352538" cy="14605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8474">
                  <a:extLst>
                    <a:ext uri="{9D8B030D-6E8A-4147-A177-3AD203B41FA5}">
                      <a16:colId xmlns:a16="http://schemas.microsoft.com/office/drawing/2014/main" val="2792225430"/>
                    </a:ext>
                  </a:extLst>
                </a:gridCol>
                <a:gridCol w="735254">
                  <a:extLst>
                    <a:ext uri="{9D8B030D-6E8A-4147-A177-3AD203B41FA5}">
                      <a16:colId xmlns:a16="http://schemas.microsoft.com/office/drawing/2014/main" val="961494347"/>
                    </a:ext>
                  </a:extLst>
                </a:gridCol>
                <a:gridCol w="1960677">
                  <a:extLst>
                    <a:ext uri="{9D8B030D-6E8A-4147-A177-3AD203B41FA5}">
                      <a16:colId xmlns:a16="http://schemas.microsoft.com/office/drawing/2014/main" val="1573855457"/>
                    </a:ext>
                  </a:extLst>
                </a:gridCol>
                <a:gridCol w="4248133">
                  <a:extLst>
                    <a:ext uri="{9D8B030D-6E8A-4147-A177-3AD203B41FA5}">
                      <a16:colId xmlns:a16="http://schemas.microsoft.com/office/drawing/2014/main" val="3171980195"/>
                    </a:ext>
                  </a:extLst>
                </a:gridCol>
              </a:tblGrid>
              <a:tr h="162278"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Paso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Actor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Herramienta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Acción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983351865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1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Chofer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Flutter camera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Toma foto del manifiesto físico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339259700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2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Sistema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Supabase Storage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Sube imagen al bucket manifiestos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473495926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3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Sistema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Edge Function + Google Vision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OCR extrae: número, cliente, dirección, kg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816329656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4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Sistema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Parser Dart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Estructura JSON limpio; campos de baja confianza marcados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988903584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5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Chofer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Pantalla confirmación Flutter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Corrige errores antes de confirmar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690469179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6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Sistema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Google Maps Geocoding API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Convierte cada dirección a coordenadas lat/lng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178427966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7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Sistema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Google Routes API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Ordena entregas por distancia (TSP)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467013518"/>
                  </a:ext>
                </a:extLst>
              </a:tr>
              <a:tr h="162278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8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Chofer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Home screen Flutter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 dirty="0">
                          <a:effectLst/>
                        </a:rPr>
                        <a:t>Ve lista priorizada lista para ejecutar</a:t>
                      </a:r>
                      <a:endParaRPr lang="es-VE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420180797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9A29A7DB-1AC9-5C1A-C446-A620EC88AA77}"/>
              </a:ext>
            </a:extLst>
          </p:cNvPr>
          <p:cNvSpPr txBox="1"/>
          <p:nvPr/>
        </p:nvSpPr>
        <p:spPr>
          <a:xfrm>
            <a:off x="788162" y="323163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s-VE" sz="1800" b="1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5.2  Flujo de confirmación de entrega</a:t>
            </a:r>
            <a:endParaRPr lang="es-VE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C790C1A7-BE0C-CE8F-5ADB-F96F2FE9A2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719009"/>
              </p:ext>
            </p:extLst>
          </p:nvPr>
        </p:nvGraphicFramePr>
        <p:xfrm>
          <a:off x="1004062" y="3704114"/>
          <a:ext cx="7352538" cy="9345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8474">
                  <a:extLst>
                    <a:ext uri="{9D8B030D-6E8A-4147-A177-3AD203B41FA5}">
                      <a16:colId xmlns:a16="http://schemas.microsoft.com/office/drawing/2014/main" val="1669360962"/>
                    </a:ext>
                  </a:extLst>
                </a:gridCol>
                <a:gridCol w="735254">
                  <a:extLst>
                    <a:ext uri="{9D8B030D-6E8A-4147-A177-3AD203B41FA5}">
                      <a16:colId xmlns:a16="http://schemas.microsoft.com/office/drawing/2014/main" val="1254279566"/>
                    </a:ext>
                  </a:extLst>
                </a:gridCol>
                <a:gridCol w="2450846">
                  <a:extLst>
                    <a:ext uri="{9D8B030D-6E8A-4147-A177-3AD203B41FA5}">
                      <a16:colId xmlns:a16="http://schemas.microsoft.com/office/drawing/2014/main" val="2788647137"/>
                    </a:ext>
                  </a:extLst>
                </a:gridCol>
                <a:gridCol w="3757964">
                  <a:extLst>
                    <a:ext uri="{9D8B030D-6E8A-4147-A177-3AD203B41FA5}">
                      <a16:colId xmlns:a16="http://schemas.microsoft.com/office/drawing/2014/main" val="4103041438"/>
                    </a:ext>
                  </a:extLst>
                </a:gridCol>
              </a:tblGrid>
              <a:tr h="155762"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Paso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Actor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Acción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Resultado BD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512868416"/>
                  </a:ext>
                </a:extLst>
              </a:tr>
              <a:tr h="155762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1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Chofer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Llega al destino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GPS registra lat/lng en ubicaciones_gps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36146611"/>
                  </a:ext>
                </a:extLst>
              </a:tr>
              <a:tr h="155762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2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Chofer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Toma foto de evidencia con camera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Foto → OfflineManager.dispatch(UPLOAD_PHOTO)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902118891"/>
                  </a:ext>
                </a:extLst>
              </a:tr>
              <a:tr h="155762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3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Sistema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OCR valida número en la foto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Coteja con entregas.numero_entrega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574401173"/>
                  </a:ext>
                </a:extLst>
              </a:tr>
              <a:tr h="155762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4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Sistema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Marca entrega como entregado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 dirty="0">
                          <a:effectLst/>
                        </a:rPr>
                        <a:t>estado = "entregado", </a:t>
                      </a:r>
                      <a:r>
                        <a:rPr lang="es-VE" sz="900" dirty="0" err="1">
                          <a:effectLst/>
                        </a:rPr>
                        <a:t>entregado_at</a:t>
                      </a:r>
                      <a:r>
                        <a:rPr lang="es-VE" sz="900" dirty="0">
                          <a:effectLst/>
                        </a:rPr>
                        <a:t> = </a:t>
                      </a:r>
                      <a:r>
                        <a:rPr lang="es-VE" sz="900" dirty="0" err="1">
                          <a:effectLst/>
                        </a:rPr>
                        <a:t>now</a:t>
                      </a:r>
                      <a:r>
                        <a:rPr lang="es-VE" sz="900" dirty="0">
                          <a:effectLst/>
                        </a:rPr>
                        <a:t>()</a:t>
                      </a:r>
                      <a:endParaRPr lang="es-VE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2641331"/>
                  </a:ext>
                </a:extLst>
              </a:tr>
              <a:tr h="155762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5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Sistema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Notifica al admin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n-US" sz="900" dirty="0" err="1">
                          <a:effectLst/>
                        </a:rPr>
                        <a:t>Supabase</a:t>
                      </a:r>
                      <a:r>
                        <a:rPr lang="en-US" sz="900" dirty="0">
                          <a:effectLst/>
                        </a:rPr>
                        <a:t> Realtime push al panel web</a:t>
                      </a:r>
                      <a:endParaRPr lang="es-VE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319066711"/>
                  </a:ext>
                </a:extLst>
              </a:tr>
            </a:tbl>
          </a:graphicData>
        </a:graphic>
      </p:graphicFrame>
      <p:sp>
        <p:nvSpPr>
          <p:cNvPr id="17" name="CuadroTexto 16">
            <a:extLst>
              <a:ext uri="{FF2B5EF4-FFF2-40B4-BE49-F238E27FC236}">
                <a16:creationId xmlns:a16="http://schemas.microsoft.com/office/drawing/2014/main" id="{94F87B21-4945-C1CF-2AD5-3564C00D82D3}"/>
              </a:ext>
            </a:extLst>
          </p:cNvPr>
          <p:cNvSpPr txBox="1"/>
          <p:nvPr/>
        </p:nvSpPr>
        <p:spPr>
          <a:xfrm>
            <a:off x="788162" y="47165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s-VE" sz="1800" b="1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5.3  Flujo de pago quincenal 1099</a:t>
            </a:r>
            <a:endParaRPr lang="es-VE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7ABFE0C9-FF69-DA8D-8CEF-1D71460D26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493693"/>
              </p:ext>
            </p:extLst>
          </p:nvPr>
        </p:nvGraphicFramePr>
        <p:xfrm>
          <a:off x="1016000" y="5163660"/>
          <a:ext cx="5715000" cy="1249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7500">
                  <a:extLst>
                    <a:ext uri="{9D8B030D-6E8A-4147-A177-3AD203B41FA5}">
                      <a16:colId xmlns:a16="http://schemas.microsoft.com/office/drawing/2014/main" val="372086323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671329301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4126974607"/>
                    </a:ext>
                  </a:extLst>
                </a:gridCol>
              </a:tblGrid>
              <a:tr h="156230"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Paso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Actor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Acción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999101030"/>
                  </a:ext>
                </a:extLst>
              </a:tr>
              <a:tr h="156230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1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Sistema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Agrupa rutas del período y calcula monto_base automáticamente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760629233"/>
                  </a:ext>
                </a:extLst>
              </a:tr>
              <a:tr h="156230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2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Chofer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Reporta extras pendientes antes del corte en la app Flutter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278384839"/>
                  </a:ext>
                </a:extLst>
              </a:tr>
              <a:tr h="156230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3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Admin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Aprueba o rechaza extras en el panel Flutter Web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137238659"/>
                  </a:ext>
                </a:extLst>
              </a:tr>
              <a:tr h="156230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4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Sistema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PostgreSQL calcula: total = monto_base + extras - deducciones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573863346"/>
                  </a:ext>
                </a:extLst>
              </a:tr>
              <a:tr h="156230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5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Admin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Cambia estado de borrador → aprobado en el panel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484732093"/>
                  </a:ext>
                </a:extLst>
              </a:tr>
              <a:tr h="156230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6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Admin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Sube comprobante y confirma pago (estado → pagado)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47988239"/>
                  </a:ext>
                </a:extLst>
              </a:tr>
              <a:tr h="156230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7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Sistema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 dirty="0" err="1">
                          <a:effectLst/>
                        </a:rPr>
                        <a:t>Firebase</a:t>
                      </a:r>
                      <a:r>
                        <a:rPr lang="es-VE" sz="900" dirty="0">
                          <a:effectLst/>
                        </a:rPr>
                        <a:t> Cloud </a:t>
                      </a:r>
                      <a:r>
                        <a:rPr lang="es-VE" sz="900" dirty="0" err="1">
                          <a:effectLst/>
                        </a:rPr>
                        <a:t>Messaging</a:t>
                      </a:r>
                      <a:r>
                        <a:rPr lang="es-VE" sz="900" dirty="0">
                          <a:effectLst/>
                        </a:rPr>
                        <a:t> notifica al chofer del pago</a:t>
                      </a:r>
                      <a:endParaRPr lang="es-VE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054800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6074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1A78C7E-A5EF-83ED-C4AB-70F2FCD1F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62" y="213868"/>
            <a:ext cx="6170676" cy="497332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322CD153-D7C1-5829-D614-64EF67D4D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214579"/>
              </p:ext>
            </p:extLst>
          </p:nvPr>
        </p:nvGraphicFramePr>
        <p:xfrm>
          <a:off x="698500" y="1037114"/>
          <a:ext cx="6642100" cy="22140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6022">
                  <a:extLst>
                    <a:ext uri="{9D8B030D-6E8A-4147-A177-3AD203B41FA5}">
                      <a16:colId xmlns:a16="http://schemas.microsoft.com/office/drawing/2014/main" val="3291664242"/>
                    </a:ext>
                  </a:extLst>
                </a:gridCol>
                <a:gridCol w="1033216">
                  <a:extLst>
                    <a:ext uri="{9D8B030D-6E8A-4147-A177-3AD203B41FA5}">
                      <a16:colId xmlns:a16="http://schemas.microsoft.com/office/drawing/2014/main" val="3228975800"/>
                    </a:ext>
                  </a:extLst>
                </a:gridCol>
                <a:gridCol w="4132862">
                  <a:extLst>
                    <a:ext uri="{9D8B030D-6E8A-4147-A177-3AD203B41FA5}">
                      <a16:colId xmlns:a16="http://schemas.microsoft.com/office/drawing/2014/main" val="3687391096"/>
                    </a:ext>
                  </a:extLst>
                </a:gridCol>
              </a:tblGrid>
              <a:tr h="201281"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Fase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Duración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Entregables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363657119"/>
                  </a:ext>
                </a:extLst>
              </a:tr>
              <a:tr h="402561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Fase 1 — Fundación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1 semanas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Proyecto Flutter + Supabase. SQL completo, RLS, Auth, buckets Storage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62689553"/>
                  </a:ext>
                </a:extLst>
              </a:tr>
              <a:tr h="402561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Fase 2 — App móvil chofer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2 semanas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Login, captura manifiesto, OCR, confirmación entregas con foto, modo offline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739901720"/>
                  </a:ext>
                </a:extLst>
              </a:tr>
              <a:tr h="402561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Fase 3 — GPS y despacho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2 semanas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GPS tracking con geolocator, panel web Flutter con flutter_map, asignación rutas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924250272"/>
                  </a:ext>
                </a:extLst>
              </a:tr>
              <a:tr h="201281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Fase 4 — Finanzas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1 semanas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Bitácora diaria, extras, pago quincenal 1099, reportes en PDF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241849950"/>
                  </a:ext>
                </a:extLst>
              </a:tr>
              <a:tr h="201281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Fase 5 — Portal cliente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1 semana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Enlace firmado de solo lectura para clientes como All Freight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51450207"/>
                  </a:ext>
                </a:extLst>
              </a:tr>
              <a:tr h="402561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Fase 6 — QA y lanzamiento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2 semanas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 dirty="0">
                          <a:effectLst/>
                        </a:rPr>
                        <a:t>Pruebas con choferes reales, ajustes OCR, </a:t>
                      </a:r>
                      <a:r>
                        <a:rPr lang="es-VE" sz="900" dirty="0" err="1">
                          <a:effectLst/>
                        </a:rPr>
                        <a:t>deploy</a:t>
                      </a:r>
                      <a:r>
                        <a:rPr lang="es-VE" sz="900" dirty="0">
                          <a:effectLst/>
                        </a:rPr>
                        <a:t> producción</a:t>
                      </a:r>
                      <a:endParaRPr lang="es-VE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67475093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60AE3EB8-D820-2123-6ABC-26F31CE177C1}"/>
              </a:ext>
            </a:extLst>
          </p:cNvPr>
          <p:cNvSpPr txBox="1"/>
          <p:nvPr/>
        </p:nvSpPr>
        <p:spPr>
          <a:xfrm>
            <a:off x="608838" y="3577115"/>
            <a:ext cx="100972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VE" sz="12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Total estimado: ~9 semanas para v1.0 en producción.</a:t>
            </a:r>
            <a:br>
              <a:rPr lang="es-VE" sz="12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VE" sz="120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Flutter</a:t>
            </a:r>
            <a:r>
              <a:rPr lang="es-VE" sz="12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acelera el desarrollo al compartir lógica entre app móvil y panel web.</a:t>
            </a:r>
            <a:br>
              <a:rPr lang="es-VE" sz="12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VE" sz="12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Punto de validación temprana: al finalizar Fase 2, probar con 1–2 choferes.</a:t>
            </a:r>
          </a:p>
        </p:txBody>
      </p:sp>
    </p:spTree>
    <p:extLst>
      <p:ext uri="{BB962C8B-B14F-4D97-AF65-F5344CB8AC3E}">
        <p14:creationId xmlns:p14="http://schemas.microsoft.com/office/powerpoint/2010/main" val="612054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3056136-2DC6-9047-B16D-B97199F40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62" y="239268"/>
            <a:ext cx="6170676" cy="43586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0B3206E-D2F4-70E7-6A3F-A683C7A654A6}"/>
              </a:ext>
            </a:extLst>
          </p:cNvPr>
          <p:cNvSpPr txBox="1"/>
          <p:nvPr/>
        </p:nvSpPr>
        <p:spPr>
          <a:xfrm>
            <a:off x="546862" y="848836"/>
            <a:ext cx="96385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marR="152400">
              <a:spcBef>
                <a:spcPts val="600"/>
              </a:spcBef>
              <a:spcAft>
                <a:spcPts val="800"/>
              </a:spcAft>
            </a:pPr>
            <a:r>
              <a:rPr lang="es-VE" sz="1800" dirty="0">
                <a:solidFill>
                  <a:srgbClr val="63380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Los choferes operan en zonas con cobertura variable.</a:t>
            </a:r>
            <a:br>
              <a:rPr lang="es-VE" sz="1800" dirty="0">
                <a:solidFill>
                  <a:srgbClr val="63380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VE" sz="1800" dirty="0">
                <a:solidFill>
                  <a:srgbClr val="63380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La app </a:t>
            </a:r>
            <a:r>
              <a:rPr lang="es-VE" sz="1800" dirty="0" err="1">
                <a:solidFill>
                  <a:srgbClr val="63380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Flutter</a:t>
            </a:r>
            <a:r>
              <a:rPr lang="es-VE" sz="1800" dirty="0">
                <a:solidFill>
                  <a:srgbClr val="63380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guarda fotos y acciones en SQLite local y sincroniza al reconectar.</a:t>
            </a:r>
            <a:br>
              <a:rPr lang="es-VE" sz="1800" dirty="0">
                <a:solidFill>
                  <a:srgbClr val="63380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VE" sz="1800" dirty="0">
                <a:solidFill>
                  <a:srgbClr val="63380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Nada se pierde aunque se cierre la app o reinicie el teléfono.</a:t>
            </a:r>
            <a:endParaRPr lang="es-VE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2A1095F-78F6-3519-3D90-5F0D950F3D0C}"/>
              </a:ext>
            </a:extLst>
          </p:cNvPr>
          <p:cNvSpPr txBox="1"/>
          <p:nvPr/>
        </p:nvSpPr>
        <p:spPr>
          <a:xfrm>
            <a:off x="621538" y="19458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s-VE" sz="1800" b="1" dirty="0" err="1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OfflineManager</a:t>
            </a:r>
            <a:r>
              <a:rPr lang="es-VE" sz="1800" b="1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— decisor online/offline</a:t>
            </a:r>
            <a:endParaRPr lang="es-VE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B78B147-D99C-6D54-ED17-7BA4983414E8}"/>
              </a:ext>
            </a:extLst>
          </p:cNvPr>
          <p:cNvSpPr txBox="1"/>
          <p:nvPr/>
        </p:nvSpPr>
        <p:spPr>
          <a:xfrm>
            <a:off x="723900" y="2315202"/>
            <a:ext cx="10846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s-VE" sz="1800" dirty="0">
                <a:solidFill>
                  <a:srgbClr val="44444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Intercepta cada acción del chofer. Si hay señal, ejecuta directo en </a:t>
            </a:r>
            <a:r>
              <a:rPr lang="es-VE" sz="1800" dirty="0" err="1">
                <a:solidFill>
                  <a:srgbClr val="44444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Supabase</a:t>
            </a:r>
            <a:r>
              <a:rPr lang="es-VE" sz="1800" dirty="0">
                <a:solidFill>
                  <a:srgbClr val="44444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. Si no hay señal (o falla), encola en SQLite local.</a:t>
            </a:r>
            <a:endParaRPr lang="es-VE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01A82D6-252C-E0BA-0A04-BC864419CFD6}"/>
              </a:ext>
            </a:extLst>
          </p:cNvPr>
          <p:cNvSpPr txBox="1"/>
          <p:nvPr/>
        </p:nvSpPr>
        <p:spPr>
          <a:xfrm>
            <a:off x="621538" y="31461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s-VE" sz="1800" b="1" dirty="0">
                <a:solidFill>
                  <a:srgbClr val="1E3A5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Tabla de garantías del modo offline</a:t>
            </a:r>
            <a:endParaRPr lang="es-VE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6F127AD9-91AF-544B-6D41-8B66C25E3F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20785"/>
              </p:ext>
            </p:extLst>
          </p:nvPr>
        </p:nvGraphicFramePr>
        <p:xfrm>
          <a:off x="774700" y="3700198"/>
          <a:ext cx="7797800" cy="18751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5982">
                  <a:extLst>
                    <a:ext uri="{9D8B030D-6E8A-4147-A177-3AD203B41FA5}">
                      <a16:colId xmlns:a16="http://schemas.microsoft.com/office/drawing/2014/main" val="391120564"/>
                    </a:ext>
                  </a:extLst>
                </a:gridCol>
                <a:gridCol w="5371818">
                  <a:extLst>
                    <a:ext uri="{9D8B030D-6E8A-4147-A177-3AD203B41FA5}">
                      <a16:colId xmlns:a16="http://schemas.microsoft.com/office/drawing/2014/main" val="2870527316"/>
                    </a:ext>
                  </a:extLst>
                </a:gridCol>
              </a:tblGrid>
              <a:tr h="267872">
                <a:tc>
                  <a:txBody>
                    <a:bodyPr/>
                    <a:lstStyle/>
                    <a:p>
                      <a:pPr algn="ctr"/>
                      <a:r>
                        <a:rPr lang="es-VE" sz="900">
                          <a:effectLst/>
                        </a:rPr>
                        <a:t>Escenario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900" dirty="0">
                          <a:effectLst/>
                        </a:rPr>
                        <a:t>Comportamiento</a:t>
                      </a:r>
                      <a:endParaRPr lang="es-VE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719839250"/>
                  </a:ext>
                </a:extLst>
              </a:tr>
              <a:tr h="267872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Foto tomada sin señal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Se copia a documentDirectory/evidencias/ y se encola para subir a Supabase Storage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955059004"/>
                  </a:ext>
                </a:extLst>
              </a:tr>
              <a:tr h="267872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Entrega confirmada sin señal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Estado cambia a "entregado" en caché local de inmediato; Supabase se actualiza al reconectar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199989767"/>
                  </a:ext>
                </a:extLst>
              </a:tr>
              <a:tr h="267872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App cerrada sin señal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La cola SQLite y las fotos persisten en disco; al reabrir se intenta sync automático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840614416"/>
                  </a:ext>
                </a:extLst>
              </a:tr>
              <a:tr h="267872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GPS sin señal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Posiciones se acumulan en gps_buffer y se envían en batch al reconectar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116754848"/>
                  </a:ext>
                </a:extLst>
              </a:tr>
              <a:tr h="267872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Falla de red (no de señal)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Hasta 5 reintentos con back-off exponencial; si supera el límite, queda en status "failed"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2926289907"/>
                  </a:ext>
                </a:extLst>
              </a:tr>
              <a:tr h="267872">
                <a:tc>
                  <a:txBody>
                    <a:bodyPr/>
                    <a:lstStyle/>
                    <a:p>
                      <a:r>
                        <a:rPr lang="es-VE" sz="900">
                          <a:effectLst/>
                        </a:rPr>
                        <a:t>Reconexión a internet</a:t>
                      </a:r>
                      <a:endParaRPr lang="es-VE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r>
                        <a:rPr lang="es-VE" sz="900" dirty="0" err="1">
                          <a:effectLst/>
                        </a:rPr>
                        <a:t>connectivity_plus</a:t>
                      </a:r>
                      <a:r>
                        <a:rPr lang="es-VE" sz="900" dirty="0">
                          <a:effectLst/>
                        </a:rPr>
                        <a:t> dispara el evento → </a:t>
                      </a:r>
                      <a:r>
                        <a:rPr lang="es-VE" sz="900" dirty="0" err="1">
                          <a:effectLst/>
                        </a:rPr>
                        <a:t>SyncEngine.processQueue</a:t>
                      </a:r>
                      <a:r>
                        <a:rPr lang="es-VE" sz="900" dirty="0">
                          <a:effectLst/>
                        </a:rPr>
                        <a:t>() procesa la cola en orden</a:t>
                      </a:r>
                      <a:endParaRPr lang="es-VE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4232224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5276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2E26F76-B902-E5AE-A42C-6D0258A5A18A}"/>
              </a:ext>
            </a:extLst>
          </p:cNvPr>
          <p:cNvSpPr txBox="1"/>
          <p:nvPr/>
        </p:nvSpPr>
        <p:spPr>
          <a:xfrm>
            <a:off x="622300" y="376535"/>
            <a:ext cx="11315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A continuación, se detalla la estimación y el impacto de los costos de cada servicio externo y de infraestructura para este proyecto:</a:t>
            </a:r>
            <a:endParaRPr lang="es-VE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B73EBD5-2C42-C3AA-2F38-B5EF542C2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543701"/>
              </p:ext>
            </p:extLst>
          </p:nvPr>
        </p:nvGraphicFramePr>
        <p:xfrm>
          <a:off x="622300" y="1710214"/>
          <a:ext cx="10922000" cy="3395186"/>
        </p:xfrm>
        <a:graphic>
          <a:graphicData uri="http://schemas.openxmlformats.org/drawingml/2006/table">
            <a:tbl>
              <a:tblPr/>
              <a:tblGrid>
                <a:gridCol w="5461000">
                  <a:extLst>
                    <a:ext uri="{9D8B030D-6E8A-4147-A177-3AD203B41FA5}">
                      <a16:colId xmlns:a16="http://schemas.microsoft.com/office/drawing/2014/main" val="3260526251"/>
                    </a:ext>
                  </a:extLst>
                </a:gridCol>
                <a:gridCol w="5461000">
                  <a:extLst>
                    <a:ext uri="{9D8B030D-6E8A-4147-A177-3AD203B41FA5}">
                      <a16:colId xmlns:a16="http://schemas.microsoft.com/office/drawing/2014/main" val="4152758039"/>
                    </a:ext>
                  </a:extLst>
                </a:gridCol>
              </a:tblGrid>
              <a:tr h="466006">
                <a:tc>
                  <a:txBody>
                    <a:bodyPr/>
                    <a:lstStyle/>
                    <a:p>
                      <a:r>
                        <a:rPr lang="es-VE" b="1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Concepto / Servicio</a:t>
                      </a:r>
                      <a:endParaRPr lang="es-V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b="1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Costo Mensual Estimado (Flota de 7 camiones)</a:t>
                      </a:r>
                      <a:endParaRPr lang="es-MX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108535"/>
                  </a:ext>
                </a:extLst>
              </a:tr>
              <a:tr h="466006">
                <a:tc>
                  <a:txBody>
                    <a:bodyPr/>
                    <a:lstStyle/>
                    <a:p>
                      <a:r>
                        <a:rPr lang="es-MX" b="1">
                          <a:effectLst/>
                          <a:latin typeface="Google Sans Text"/>
                        </a:rPr>
                        <a:t>SQLite (Local en el teléfono)</a:t>
                      </a:r>
                      <a:endParaRPr lang="es-MX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VE" b="1" dirty="0">
                          <a:effectLst/>
                          <a:latin typeface="Google Sans Text"/>
                        </a:rPr>
                        <a:t>$0</a:t>
                      </a:r>
                      <a:r>
                        <a:rPr lang="es-VE" dirty="0">
                          <a:effectLst/>
                          <a:latin typeface="Google Sans Text"/>
                        </a:rPr>
                        <a:t> (Sin costo)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313989"/>
                  </a:ext>
                </a:extLst>
              </a:tr>
              <a:tr h="466006">
                <a:tc>
                  <a:txBody>
                    <a:bodyPr/>
                    <a:lstStyle/>
                    <a:p>
                      <a:r>
                        <a:rPr lang="es-VE" b="1">
                          <a:effectLst/>
                          <a:latin typeface="Google Sans Text"/>
                        </a:rPr>
                        <a:t>Firebase Cloud Messaging</a:t>
                      </a:r>
                      <a:endParaRPr lang="es-VE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VE" b="1">
                          <a:effectLst/>
                          <a:latin typeface="Google Sans Text"/>
                        </a:rPr>
                        <a:t>$0</a:t>
                      </a:r>
                      <a:r>
                        <a:rPr lang="es-VE">
                          <a:effectLst/>
                          <a:latin typeface="Google Sans Text"/>
                        </a:rPr>
                        <a:t> (Gratis)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349089"/>
                  </a:ext>
                </a:extLst>
              </a:tr>
              <a:tr h="765581">
                <a:tc>
                  <a:txBody>
                    <a:bodyPr/>
                    <a:lstStyle/>
                    <a:p>
                      <a:r>
                        <a:rPr lang="es-VE" b="1">
                          <a:effectLst/>
                          <a:latin typeface="Google Sans Text"/>
                        </a:rPr>
                        <a:t>Google Vision / Maps / Routes</a:t>
                      </a:r>
                      <a:endParaRPr lang="es-VE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b="1">
                          <a:effectLst/>
                          <a:latin typeface="Google Sans Text"/>
                        </a:rPr>
                        <a:t>$0 a $5 USD</a:t>
                      </a:r>
                      <a:r>
                        <a:rPr lang="es-MX">
                          <a:effectLst/>
                          <a:latin typeface="Google Sans Text"/>
                        </a:rPr>
                        <a:t> (Prácticamente cubierto por las capas gratuitas para este volumen)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665689"/>
                  </a:ext>
                </a:extLst>
              </a:tr>
              <a:tr h="466006">
                <a:tc>
                  <a:txBody>
                    <a:bodyPr/>
                    <a:lstStyle/>
                    <a:p>
                      <a:r>
                        <a:rPr lang="es-VE" b="1">
                          <a:effectLst/>
                          <a:latin typeface="Google Sans Text"/>
                        </a:rPr>
                        <a:t>Supabase (Backend)</a:t>
                      </a:r>
                      <a:endParaRPr lang="es-VE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$0 (Free)</a:t>
                      </a:r>
                      <a:r>
                        <a:rPr lang="en-US">
                          <a:effectLst/>
                          <a:latin typeface="Google Sans Text"/>
                        </a:rPr>
                        <a:t> o </a:t>
                      </a:r>
                      <a:r>
                        <a:rPr lang="en-US" b="1">
                          <a:effectLst/>
                          <a:latin typeface="Google Sans Text"/>
                        </a:rPr>
                        <a:t>$25 USD (Pro)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642211"/>
                  </a:ext>
                </a:extLst>
              </a:tr>
              <a:tr h="765581">
                <a:tc>
                  <a:txBody>
                    <a:bodyPr/>
                    <a:lstStyle/>
                    <a:p>
                      <a:r>
                        <a:rPr lang="es-VE" b="1">
                          <a:effectLst/>
                          <a:latin typeface="Google Sans Text"/>
                        </a:rPr>
                        <a:t>TOTAL ESTIMADO</a:t>
                      </a:r>
                      <a:endParaRPr lang="es-VE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b="1" dirty="0">
                          <a:effectLst/>
                          <a:latin typeface="Google Sans Text"/>
                        </a:rPr>
                        <a:t>$0 a $30 USD al mes</a:t>
                      </a:r>
                      <a:r>
                        <a:rPr lang="es-MX" dirty="0">
                          <a:effectLst/>
                          <a:latin typeface="Google Sans Text"/>
                        </a:rPr>
                        <a:t> en costos operativos de infraestructura y </a:t>
                      </a:r>
                      <a:r>
                        <a:rPr lang="es-MX" dirty="0" err="1">
                          <a:effectLst/>
                          <a:latin typeface="Google Sans Text"/>
                        </a:rPr>
                        <a:t>APIs</a:t>
                      </a:r>
                      <a:r>
                        <a:rPr lang="es-MX" dirty="0"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467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54789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2736</Words>
  <Application>Microsoft Office PowerPoint</Application>
  <PresentationFormat>Panorámica</PresentationFormat>
  <Paragraphs>267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Google Sans Text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Jaime Montañez</dc:creator>
  <cp:lastModifiedBy>Jaime Montañez</cp:lastModifiedBy>
  <cp:revision>10</cp:revision>
  <dcterms:created xsi:type="dcterms:W3CDTF">2026-09-27T13:31:20Z</dcterms:created>
  <dcterms:modified xsi:type="dcterms:W3CDTF">2026-09-27T14:16:49Z</dcterms:modified>
</cp:coreProperties>
</file>