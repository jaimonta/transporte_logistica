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5" d="100"/>
          <a:sy n="75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14861-F798-4DB0-80BA-1AAF94A7E87D}" type="datetimeFigureOut">
              <a:rPr lang="es-VE" smtClean="0"/>
              <a:t>27/9/2026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16CE5-F097-494E-9279-0717A20B0B2E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930009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14861-F798-4DB0-80BA-1AAF94A7E87D}" type="datetimeFigureOut">
              <a:rPr lang="es-VE" smtClean="0"/>
              <a:t>27/9/2026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16CE5-F097-494E-9279-0717A20B0B2E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1830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14861-F798-4DB0-80BA-1AAF94A7E87D}" type="datetimeFigureOut">
              <a:rPr lang="es-VE" smtClean="0"/>
              <a:t>27/9/2026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16CE5-F097-494E-9279-0717A20B0B2E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280931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14861-F798-4DB0-80BA-1AAF94A7E87D}" type="datetimeFigureOut">
              <a:rPr lang="es-VE" smtClean="0"/>
              <a:t>27/9/2026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16CE5-F097-494E-9279-0717A20B0B2E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01329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14861-F798-4DB0-80BA-1AAF94A7E87D}" type="datetimeFigureOut">
              <a:rPr lang="es-VE" smtClean="0"/>
              <a:t>27/9/2026</a:t>
            </a:fld>
            <a:endParaRPr lang="es-V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16CE5-F097-494E-9279-0717A20B0B2E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934973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14861-F798-4DB0-80BA-1AAF94A7E87D}" type="datetimeFigureOut">
              <a:rPr lang="es-VE" smtClean="0"/>
              <a:t>27/9/2026</a:t>
            </a:fld>
            <a:endParaRPr lang="es-V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16CE5-F097-494E-9279-0717A20B0B2E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476632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14861-F798-4DB0-80BA-1AAF94A7E87D}" type="datetimeFigureOut">
              <a:rPr lang="es-VE" smtClean="0"/>
              <a:t>27/9/2026</a:t>
            </a:fld>
            <a:endParaRPr lang="es-V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16CE5-F097-494E-9279-0717A20B0B2E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804820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14861-F798-4DB0-80BA-1AAF94A7E87D}" type="datetimeFigureOut">
              <a:rPr lang="es-VE" smtClean="0"/>
              <a:t>27/9/2026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16CE5-F097-494E-9279-0717A20B0B2E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429763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14861-F798-4DB0-80BA-1AAF94A7E87D}" type="datetimeFigureOut">
              <a:rPr lang="es-VE" smtClean="0"/>
              <a:t>27/9/2026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16CE5-F097-494E-9279-0717A20B0B2E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006098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14861-F798-4DB0-80BA-1AAF94A7E87D}" type="datetimeFigureOut">
              <a:rPr lang="es-VE" smtClean="0"/>
              <a:t>27/9/2026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16CE5-F097-494E-9279-0717A20B0B2E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265019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14861-F798-4DB0-80BA-1AAF94A7E87D}" type="datetimeFigureOut">
              <a:rPr lang="es-VE" smtClean="0"/>
              <a:t>27/9/2026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16CE5-F097-494E-9279-0717A20B0B2E}" type="slidenum">
              <a:rPr lang="es-VE" smtClean="0"/>
              <a:t>‹Nº›</a:t>
            </a:fld>
            <a:endParaRPr lang="es-VE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876037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14861-F798-4DB0-80BA-1AAF94A7E87D}" type="datetimeFigureOut">
              <a:rPr lang="es-VE" smtClean="0"/>
              <a:t>27/9/2026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16CE5-F097-494E-9279-0717A20B0B2E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3373542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14861-F798-4DB0-80BA-1AAF94A7E87D}" type="datetimeFigureOut">
              <a:rPr lang="es-VE" smtClean="0"/>
              <a:t>27/9/2026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16CE5-F097-494E-9279-0717A20B0B2E}" type="slidenum">
              <a:rPr lang="es-VE" smtClean="0"/>
              <a:t>‹Nº›</a:t>
            </a:fld>
            <a:endParaRPr lang="es-V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90824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14861-F798-4DB0-80BA-1AAF94A7E87D}" type="datetimeFigureOut">
              <a:rPr lang="es-VE" smtClean="0"/>
              <a:t>27/9/2026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16CE5-F097-494E-9279-0717A20B0B2E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930554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14861-F798-4DB0-80BA-1AAF94A7E87D}" type="datetimeFigureOut">
              <a:rPr lang="es-VE" smtClean="0"/>
              <a:t>27/9/2026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16CE5-F097-494E-9279-0717A20B0B2E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1892270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14861-F798-4DB0-80BA-1AAF94A7E87D}" type="datetimeFigureOut">
              <a:rPr lang="es-VE" smtClean="0"/>
              <a:t>27/9/2026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16CE5-F097-494E-9279-0717A20B0B2E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6435326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06971F-40B3-586B-0B86-EBCDDF5C8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C77867B-C83D-E902-FB05-82F06B0D1E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5688EF-A90B-3672-DFDD-E07817DF1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01CB9-8D4C-4803-ACD4-DB540D9C09B5}" type="datetimeFigureOut">
              <a:rPr lang="es-VE" smtClean="0"/>
              <a:t>27/9/2026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87F930-19AA-DDB2-DF7E-72F8469ED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81012D-7B01-C650-849E-E293D2FC0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DD354-D447-49AA-B85C-F4A1C53241B9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926467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714861-F798-4DB0-80BA-1AAF94A7E87D}" type="datetimeFigureOut">
              <a:rPr lang="es-VE" smtClean="0"/>
              <a:t>27/9/2026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9716CE5-F097-494E-9279-0717A20B0B2E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170203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A3E0E7-47EC-42D5-4B64-564C4C63C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FLEETIQ — Driver OS &amp; Control Central</a:t>
            </a:r>
            <a:br>
              <a:rPr lang="pt-BR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</a:br>
            <a:endParaRPr lang="es-VE" b="0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6339F3-B4D5-5E75-60E2-1FB32DA0B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1772444"/>
            <a:ext cx="8596668" cy="2621756"/>
          </a:xfrm>
        </p:spPr>
        <p:txBody>
          <a:bodyPr>
            <a:norm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lang="es-VE" sz="2600" b="1" dirty="0">
                <a:solidFill>
                  <a:srgbClr val="2E6DA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Sistema de Gestión de Flota de Transporte</a:t>
            </a:r>
            <a:endParaRPr lang="es-VE" sz="2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indent="0" algn="ctr">
              <a:spcAft>
                <a:spcPts val="300"/>
              </a:spcAft>
              <a:buNone/>
            </a:pPr>
            <a:r>
              <a:rPr lang="en-US" sz="2600" dirty="0">
                <a:solidFill>
                  <a:srgbClr val="555555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Armando Maldonado Transport Co.</a:t>
            </a:r>
            <a:endParaRPr lang="es-VE" sz="2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indent="0" algn="ctr">
              <a:spcAft>
                <a:spcPts val="300"/>
              </a:spcAft>
              <a:buNone/>
            </a:pPr>
            <a:r>
              <a:rPr lang="en-US" sz="2600" dirty="0">
                <a:solidFill>
                  <a:srgbClr val="0F6E56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Stack: Flutter (Frontend)  ·  </a:t>
            </a:r>
            <a:r>
              <a:rPr lang="en-US" sz="2600" dirty="0" err="1">
                <a:solidFill>
                  <a:srgbClr val="0F6E56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Supabase</a:t>
            </a:r>
            <a:r>
              <a:rPr lang="en-US" sz="2600" dirty="0">
                <a:solidFill>
                  <a:srgbClr val="0F6E56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(Backend)</a:t>
            </a:r>
            <a:endParaRPr lang="es-VE" sz="2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indent="0" algn="ctr">
              <a:spcAft>
                <a:spcPts val="2400"/>
              </a:spcAft>
              <a:buNone/>
            </a:pPr>
            <a:r>
              <a:rPr lang="es-VE" sz="2600" dirty="0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Versión 1.0  ·  Septiembre 2026</a:t>
            </a:r>
            <a:endParaRPr lang="es-VE" sz="2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lvl="0" indent="0" rtl="0">
              <a:buNone/>
            </a:pPr>
            <a:endParaRPr lang="pt-BR" b="0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434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660949-B1FD-638A-191D-8AABDDC05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104900"/>
          </a:xfrm>
        </p:spPr>
        <p:txBody>
          <a:bodyPr/>
          <a:lstStyle/>
          <a:p>
            <a:pPr marR="0" rtl="0"/>
            <a:r>
              <a:rPr lang="es-MX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El Problema del Dueño-Operador en Ruta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8CED9-44AA-7531-3C35-E34FA43298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s-MX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El administrador pasa hasta el 60% de su jornada conduciendo y el 40% gestionando incidencias operativas desde la cabina.</a:t>
            </a:r>
          </a:p>
          <a:p>
            <a:pPr marR="0" lvl="0" rtl="0"/>
            <a:r>
              <a:rPr lang="es-VE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Pérdida de Comprobantes**: Tickets de casetas arrugados, firmas ilegibles y cartas porte en papel extraviadas.</a:t>
            </a:r>
          </a:p>
          <a:p>
            <a:pPr marR="0" lvl="0" rtl="0"/>
            <a:r>
              <a:rPr lang="es-MX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Pérdida de comunicación en tramos carreteros federales y naves industriales blindadas.</a:t>
            </a:r>
          </a:p>
          <a:p>
            <a:pPr marR="0" lvl="0" rtl="0"/>
            <a:r>
              <a:rPr lang="es-VE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Demoras de 15 a 30 días para liquidar a choferes 1099 y facturar a clientes comerciales por falta de </a:t>
            </a:r>
            <a:r>
              <a:rPr lang="es-VE" b="0" i="0" u="none" strike="noStrike" kern="100" baseline="0" dirty="0" err="1">
                <a:solidFill>
                  <a:srgbClr val="0F4761"/>
                </a:solidFill>
                <a:latin typeface="Times New Roman" panose="02020603050405020304" pitchFamily="18" charset="0"/>
              </a:rPr>
              <a:t>PODs</a:t>
            </a:r>
            <a:r>
              <a:rPr lang="es-VE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 legibles.</a:t>
            </a:r>
          </a:p>
          <a:p>
            <a:pPr marR="0" lvl="0" rtl="0"/>
            <a:r>
              <a:rPr lang="es-MX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"Un dueño-operador no puede detener su camión para revisar hojas de cálculo complejas. Necesita una herramienta que le permita operar en segundos y sin riesgo al volante."</a:t>
            </a:r>
          </a:p>
        </p:txBody>
      </p:sp>
    </p:spTree>
    <p:extLst>
      <p:ext uri="{BB962C8B-B14F-4D97-AF65-F5344CB8AC3E}">
        <p14:creationId xmlns:p14="http://schemas.microsoft.com/office/powerpoint/2010/main" val="2706526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A7AFD3-7BCE-228D-5333-8C1A5259D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01700"/>
          </a:xfrm>
        </p:spPr>
        <p:txBody>
          <a:bodyPr/>
          <a:lstStyle/>
          <a:p>
            <a:pPr marR="0" rtl="0"/>
            <a:r>
              <a:rPr lang="es-MX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Un Solo Sistema, Dos Entornos Optimizados</a:t>
            </a:r>
            <a:endParaRPr lang="es-VE" b="0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8D29632-BDF6-65E2-33B5-93573C101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1511301"/>
            <a:ext cx="8596668" cy="4530062"/>
          </a:xfrm>
        </p:spPr>
        <p:txBody>
          <a:bodyPr>
            <a:normAutofit lnSpcReduction="10000"/>
          </a:bodyPr>
          <a:lstStyle/>
          <a:p>
            <a:r>
              <a:rPr lang="en-US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Panel Web Desktop (Control Central) </a:t>
            </a:r>
          </a:p>
          <a:p>
            <a:r>
              <a:rPr lang="en-US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    </a:t>
            </a:r>
            <a:r>
              <a:rPr lang="es-MX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 Diseñado para oficina y escritorio.</a:t>
            </a:r>
          </a:p>
          <a:p>
            <a:r>
              <a:rPr lang="es-MX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     Pantalla panorámica con tablas densas y </a:t>
            </a:r>
            <a:r>
              <a:rPr lang="es-MX" b="0" i="0" u="none" strike="noStrike" kern="100" baseline="0" dirty="0" err="1">
                <a:solidFill>
                  <a:srgbClr val="0F4761"/>
                </a:solidFill>
                <a:latin typeface="Times New Roman" panose="02020603050405020304" pitchFamily="18" charset="0"/>
              </a:rPr>
              <a:t>split-view</a:t>
            </a:r>
            <a:r>
              <a:rPr lang="es-MX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 forense.</a:t>
            </a:r>
          </a:p>
          <a:p>
            <a:r>
              <a:rPr lang="es-MX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     Timbrado masivo CFDI 4.0 y exportación bancaria ACH/SPEI.</a:t>
            </a:r>
          </a:p>
          <a:p>
            <a:r>
              <a:rPr lang="es-MX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     Telemetría satelital </a:t>
            </a:r>
            <a:r>
              <a:rPr lang="es-MX" b="0" i="0" u="none" strike="noStrike" kern="100" baseline="0" dirty="0" err="1">
                <a:solidFill>
                  <a:srgbClr val="0F4761"/>
                </a:solidFill>
                <a:latin typeface="Times New Roman" panose="02020603050405020304" pitchFamily="18" charset="0"/>
              </a:rPr>
              <a:t>multi-unidad</a:t>
            </a:r>
            <a:r>
              <a:rPr lang="es-MX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 en tiempo real.</a:t>
            </a:r>
          </a:p>
          <a:p>
            <a:r>
              <a:rPr lang="es-VE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  App Móvil (</a:t>
            </a:r>
            <a:r>
              <a:rPr lang="es-VE" b="0" i="0" u="none" strike="noStrike" kern="100" baseline="0" dirty="0" err="1">
                <a:solidFill>
                  <a:srgbClr val="0F4761"/>
                </a:solidFill>
                <a:latin typeface="Times New Roman" panose="02020603050405020304" pitchFamily="18" charset="0"/>
              </a:rPr>
              <a:t>Flutter</a:t>
            </a:r>
            <a:r>
              <a:rPr lang="es-VE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 Material 3 - Driver OS)</a:t>
            </a:r>
          </a:p>
          <a:p>
            <a:r>
              <a:rPr lang="es-MX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     Ergonomía táctil para una sola mano con áreas de toque amplias (mínimo 48x48dp).</a:t>
            </a:r>
          </a:p>
          <a:p>
            <a:r>
              <a:rPr lang="es-VE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     Modo dual Chofer / Administrador con switch rápido de perfil.</a:t>
            </a:r>
          </a:p>
          <a:p>
            <a:r>
              <a:rPr lang="es-VE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     Arquitectura Offline-</a:t>
            </a:r>
            <a:r>
              <a:rPr lang="es-VE" b="0" i="0" u="none" strike="noStrike" kern="100" baseline="0" dirty="0" err="1">
                <a:solidFill>
                  <a:srgbClr val="0F4761"/>
                </a:solidFill>
                <a:latin typeface="Times New Roman" panose="02020603050405020304" pitchFamily="18" charset="0"/>
              </a:rPr>
              <a:t>First</a:t>
            </a:r>
            <a:r>
              <a:rPr lang="es-VE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 con base de datos local SQLite/</a:t>
            </a:r>
            <a:r>
              <a:rPr lang="es-VE" b="0" i="0" u="none" strike="noStrike" kern="100" baseline="0" dirty="0" err="1">
                <a:solidFill>
                  <a:srgbClr val="0F4761"/>
                </a:solidFill>
                <a:latin typeface="Times New Roman" panose="02020603050405020304" pitchFamily="18" charset="0"/>
              </a:rPr>
              <a:t>Drift</a:t>
            </a:r>
            <a:r>
              <a:rPr lang="es-VE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 cifrada.</a:t>
            </a:r>
          </a:p>
          <a:p>
            <a:r>
              <a:rPr lang="es-MX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     OCR móvil con retroalimentación instantánea de calidad.</a:t>
            </a:r>
          </a:p>
          <a:p>
            <a:pPr marL="0" indent="0">
              <a:buNone/>
            </a:pPr>
            <a:r>
              <a:rPr lang="es-MX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"No es una simple adaptación web responsive; son dos interfaces creadas específicamente para las condiciones ergonómicas de cada momento de uso."</a:t>
            </a:r>
          </a:p>
        </p:txBody>
      </p:sp>
    </p:spTree>
    <p:extLst>
      <p:ext uri="{BB962C8B-B14F-4D97-AF65-F5344CB8AC3E}">
        <p14:creationId xmlns:p14="http://schemas.microsoft.com/office/powerpoint/2010/main" val="1572103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D5EABF-B19D-4DBE-0E9D-640915673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14400"/>
          </a:xfrm>
        </p:spPr>
        <p:txBody>
          <a:bodyPr/>
          <a:lstStyle/>
          <a:p>
            <a:pPr marR="0" rtl="0"/>
            <a:r>
              <a:rPr lang="es-VE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De Contrato a Hoja de Ruta en Minutos</a:t>
            </a:r>
            <a:endParaRPr lang="es-MX" b="0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B9CB05C-2EFC-6AE8-EA9A-04F358ACD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1524001"/>
            <a:ext cx="4618566" cy="2705099"/>
          </a:xfrm>
        </p:spPr>
        <p:txBody>
          <a:bodyPr>
            <a:normAutofit/>
          </a:bodyPr>
          <a:lstStyle/>
          <a:p>
            <a:pPr marR="0" lvl="0" rtl="0"/>
            <a:r>
              <a:rPr lang="es-MX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Vinculación de chofer contratista con verificación de licencia y Horas de Servicio (HOS).</a:t>
            </a:r>
          </a:p>
          <a:p>
            <a:pPr marR="0" lvl="0" rtl="0"/>
            <a:r>
              <a:rPr lang="es-VE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Cálculo automático de margen bruto (ej. $1,150 USD facturado / $380 USD pago contratista = 67% margen).</a:t>
            </a:r>
          </a:p>
          <a:p>
            <a:pPr marR="0" lvl="0" rtl="0"/>
            <a:r>
              <a:rPr lang="es-MX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Envío instantáneo a la terminal del chofer con notificación prioritaria.</a:t>
            </a:r>
          </a:p>
          <a:p>
            <a:pPr marL="0" marR="0" lvl="0" indent="0" rtl="0">
              <a:buNone/>
            </a:pPr>
            <a:endParaRPr lang="es-VE" b="0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D728776-A461-879B-2979-40CAFD2D24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74" y="4229100"/>
            <a:ext cx="4786632" cy="224107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96AD422-F896-B2D9-D120-2010C9C89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798" y="1282700"/>
            <a:ext cx="1800305" cy="5187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536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91EA31-DB71-D4CE-E1FC-FEFF7E419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s-MX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Ergonomía al Volante y Navegación Táctica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1521F2-A6F5-5CC4-B6B0-574384B96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3034" y="1512890"/>
            <a:ext cx="4148666" cy="4545010"/>
          </a:xfrm>
        </p:spPr>
        <p:txBody>
          <a:bodyPr>
            <a:normAutofit/>
          </a:bodyPr>
          <a:lstStyle/>
          <a:p>
            <a:pPr marR="0" lvl="0" rtl="0"/>
            <a:r>
              <a:rPr lang="es-VE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Monitoreo de telemetría de cabina (Nivel de diésel 82%, HOS restante 05h 12m).</a:t>
            </a:r>
          </a:p>
          <a:p>
            <a:pPr marR="0" lvl="0" rtl="0"/>
            <a:r>
              <a:rPr lang="es-MX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Lista cronológica de entregas con estatus en vivo (Recolectado, En Ruta, Pendiente).</a:t>
            </a:r>
          </a:p>
          <a:p>
            <a:pPr marR="0" lvl="0" rtl="0"/>
            <a:r>
              <a:rPr lang="es-MX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Conexión nativa hacia Google </a:t>
            </a:r>
            <a:r>
              <a:rPr lang="es-MX" b="0" i="0" u="none" strike="noStrike" kern="100" baseline="0" dirty="0" err="1">
                <a:solidFill>
                  <a:srgbClr val="0F4761"/>
                </a:solidFill>
                <a:latin typeface="Times New Roman" panose="02020603050405020304" pitchFamily="18" charset="0"/>
              </a:rPr>
              <a:t>Maps</a:t>
            </a:r>
            <a:r>
              <a:rPr lang="es-MX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 y </a:t>
            </a:r>
            <a:r>
              <a:rPr lang="es-MX" b="0" i="0" u="none" strike="noStrike" kern="100" baseline="0" dirty="0" err="1">
                <a:solidFill>
                  <a:srgbClr val="0F4761"/>
                </a:solidFill>
                <a:latin typeface="Times New Roman" panose="02020603050405020304" pitchFamily="18" charset="0"/>
              </a:rPr>
              <a:t>Waze</a:t>
            </a:r>
            <a:r>
              <a:rPr lang="es-MX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 con coordenadas exactas de muelles y accesos pesados.</a:t>
            </a:r>
          </a:p>
          <a:p>
            <a:pPr marR="0" lvl="0" rtl="0"/>
            <a:r>
              <a:rPr lang="es-MX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Botón inteligente "¡Llegué al Destino!" que notifica al cliente y abre la inspección de rampa.</a:t>
            </a:r>
          </a:p>
          <a:p>
            <a:pPr marR="0" lvl="0" rtl="0"/>
            <a:endParaRPr lang="es-VE" b="0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20FDB42-AB28-8775-B9D5-FF037A3D97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377" y="1371600"/>
            <a:ext cx="2199325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595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9A932A-33FA-340D-60D8-59CE39949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9368366" cy="1320800"/>
          </a:xfrm>
        </p:spPr>
        <p:txBody>
          <a:bodyPr/>
          <a:lstStyle/>
          <a:p>
            <a:pPr marR="0" rtl="0"/>
            <a:r>
              <a:rPr lang="es-MX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Digitalización Inmediata y Cero Papeles Perdidos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090B21-CE76-B688-20C0-8D6134860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1600201"/>
            <a:ext cx="4161366" cy="4441162"/>
          </a:xfrm>
        </p:spPr>
        <p:txBody>
          <a:bodyPr>
            <a:normAutofit/>
          </a:bodyPr>
          <a:lstStyle/>
          <a:p>
            <a:pPr marR="0" lvl="0" rtl="0"/>
            <a:r>
              <a:rPr lang="es-MX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Alineación asistida por cámara, detección automática de márgenes y sello de almacén.</a:t>
            </a:r>
          </a:p>
          <a:p>
            <a:pPr marR="0" lvl="0" rtl="0"/>
            <a:r>
              <a:rPr lang="es-MX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Extracción de folio de manifiesto (#MN-8921), Clientes a entregar, bultos entregados, firma digitalizada.</a:t>
            </a:r>
          </a:p>
          <a:p>
            <a:pPr marR="0" lvl="0" rtl="0"/>
            <a:r>
              <a:rPr lang="es-MX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Match automático de la Carta Porte antes de que el chofer abandone las instalaciones.</a:t>
            </a:r>
          </a:p>
          <a:p>
            <a:pPr marR="0" lvl="0" rtl="0"/>
            <a:r>
              <a:rPr lang="es-MX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Visor comparativo con zoom forense para aprobación en 1 clic de documentos dudosos.</a:t>
            </a:r>
          </a:p>
          <a:p>
            <a:pPr marL="0" marR="0" lvl="0" indent="0" rtl="0">
              <a:buNone/>
            </a:pPr>
            <a:endParaRPr lang="es-VE" b="0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50C0884-C688-EAD3-5341-86AE159A5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009" y="1600201"/>
            <a:ext cx="2934586" cy="4889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382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34DAB9-1360-AEC0-B512-94D79DBAB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pt-BR" b="0" i="0" u="none" strike="noStrike" kern="100" baseline="0" dirty="0" err="1">
                <a:solidFill>
                  <a:srgbClr val="0F4761"/>
                </a:solidFill>
                <a:latin typeface="Times New Roman" panose="02020603050405020304" pitchFamily="18" charset="0"/>
              </a:rPr>
              <a:t>Continuidad</a:t>
            </a:r>
            <a:r>
              <a:rPr lang="pt-BR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 Operativa 100% Desconectada</a:t>
            </a:r>
            <a:endParaRPr lang="es-MX" b="0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70EB7E-8A66-3C89-5B09-EB4BFEBB7D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1689101"/>
            <a:ext cx="4110566" cy="2298699"/>
          </a:xfrm>
        </p:spPr>
        <p:txBody>
          <a:bodyPr>
            <a:normAutofit/>
          </a:bodyPr>
          <a:lstStyle/>
          <a:p>
            <a:pPr marR="0" lvl="0" rtl="0"/>
            <a:r>
              <a:rPr lang="es-MX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SQLite / </a:t>
            </a:r>
            <a:r>
              <a:rPr lang="es-MX" b="0" i="0" u="none" strike="noStrike" kern="100" baseline="0" dirty="0" err="1">
                <a:solidFill>
                  <a:srgbClr val="0F4761"/>
                </a:solidFill>
                <a:latin typeface="Times New Roman" panose="02020603050405020304" pitchFamily="18" charset="0"/>
              </a:rPr>
              <a:t>Drift</a:t>
            </a:r>
            <a:r>
              <a:rPr lang="es-MX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 con cifrado de grado militar; almacena firmas, sellos, bitácoras y fotos en cola local.</a:t>
            </a:r>
          </a:p>
          <a:p>
            <a:pPr marR="0" lvl="0" rtl="0"/>
            <a:r>
              <a:rPr lang="es-MX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Desahogo automático de la cola de transacciones al detectar red celular 4G o </a:t>
            </a:r>
            <a:r>
              <a:rPr lang="es-MX" b="0" i="0" u="none" strike="noStrike" kern="100" baseline="0" dirty="0" err="1">
                <a:solidFill>
                  <a:srgbClr val="0F4761"/>
                </a:solidFill>
                <a:latin typeface="Times New Roman" panose="02020603050405020304" pitchFamily="18" charset="0"/>
              </a:rPr>
              <a:t>Wi</a:t>
            </a:r>
            <a:r>
              <a:rPr lang="es-MX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-Fi de terminal.</a:t>
            </a:r>
          </a:p>
          <a:p>
            <a:pPr marL="0" marR="0" lvl="0" indent="0" rtl="0">
              <a:buNone/>
            </a:pPr>
            <a:endParaRPr lang="es-VE" b="0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3E15503-FC9D-A68C-0137-E9CF773689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648" y="1433182"/>
            <a:ext cx="2300605" cy="4954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103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E7ECF9-3E05-45D6-0339-63B4327F7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9241366" cy="1320800"/>
          </a:xfrm>
        </p:spPr>
        <p:txBody>
          <a:bodyPr/>
          <a:lstStyle/>
          <a:p>
            <a:pPr marR="0" algn="ctr" rtl="0"/>
            <a:r>
              <a:rPr lang="es-MX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Auditoría Express de Casetas, Retenciones y Maniobras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E7762E8-7313-EEE7-AC2E-3DDAAD13EA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5520266" cy="2894011"/>
          </a:xfrm>
        </p:spPr>
        <p:txBody>
          <a:bodyPr>
            <a:normAutofit/>
          </a:bodyPr>
          <a:lstStyle/>
          <a:p>
            <a:pPr marR="0" lvl="0" rtl="0"/>
            <a:r>
              <a:rPr lang="es-MX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Captura fotográfica de tickets con estampa de tiempo atómica y coordenadas GPS automáticas.</a:t>
            </a:r>
          </a:p>
          <a:p>
            <a:pPr marR="0" lvl="0" rtl="0"/>
            <a:r>
              <a:rPr lang="es-MX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El administrador recibe una tarjeta resumida de auditoría con desglose de concepto ($45 USD por demora en rampa).</a:t>
            </a:r>
          </a:p>
          <a:p>
            <a:pPr marR="0" lvl="0" rtl="0"/>
            <a:r>
              <a:rPr lang="es-MX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Los viáticos autorizados se indexan directamente al recibo quincenal del contratista 1099 sin doble captura manual.</a:t>
            </a:r>
          </a:p>
          <a:p>
            <a:pPr marL="0" marR="0" lvl="0" indent="0" rtl="0">
              <a:buNone/>
            </a:pPr>
            <a:endParaRPr lang="es-MX" b="0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03822D4-56D0-C811-CB33-A76D5DA022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1095" y="1689100"/>
            <a:ext cx="1898809" cy="41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737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4FF8A6-09B8-FF17-5819-4EACB090C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algn="ctr" rtl="0"/>
            <a:r>
              <a:rPr lang="es-MX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Cierre Contable Automatizado y Timbrado Fiscal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F650E5-DBD0-AFD8-5848-E155C561F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1488613"/>
            <a:ext cx="3437466" cy="4899487"/>
          </a:xfrm>
        </p:spPr>
        <p:txBody>
          <a:bodyPr>
            <a:normAutofit fontScale="92500" lnSpcReduction="20000"/>
          </a:bodyPr>
          <a:lstStyle/>
          <a:p>
            <a:pPr marR="0" lvl="0" rtl="0"/>
            <a:r>
              <a:rPr lang="es-VE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Liquidación Contratistas 1099:</a:t>
            </a:r>
          </a:p>
          <a:p>
            <a:pPr marR="0" lvl="0" rtl="0"/>
            <a:r>
              <a:rPr lang="es-MX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    - Cálculo de fletes base, viáticos y deducciones de pólizas/fianzas.</a:t>
            </a:r>
          </a:p>
          <a:p>
            <a:pPr marR="0" lvl="0" rtl="0"/>
            <a:r>
              <a:rPr lang="es-MX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    - Emisión de recibos digitales con desglose por viaje completado.</a:t>
            </a:r>
          </a:p>
          <a:p>
            <a:pPr marR="0" lvl="0" rtl="0"/>
            <a:r>
              <a:rPr lang="es-MX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    - Generación de archivo bancario para dispersión masiva vía ACH / SPEI.</a:t>
            </a:r>
          </a:p>
          <a:p>
            <a:pPr marR="0" lvl="0" rtl="0"/>
            <a:r>
              <a:rPr lang="es-VE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Facturación Comercial a Clientes:</a:t>
            </a:r>
          </a:p>
          <a:p>
            <a:pPr marR="0" lvl="0" rtl="0"/>
            <a:r>
              <a:rPr lang="es-MX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    - Agrupación quincenal por cliente corporativo (ej. Almacenes del Norte S.A. $26,490 USD).</a:t>
            </a:r>
          </a:p>
          <a:p>
            <a:pPr marR="0" lvl="0" rtl="0"/>
            <a:r>
              <a:rPr lang="es-VE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    - Descarga de paquete maestro timbrado con ZIP de todos los </a:t>
            </a:r>
            <a:r>
              <a:rPr lang="es-VE" b="0" i="0" u="none" strike="noStrike" kern="100" baseline="0" dirty="0" err="1">
                <a:solidFill>
                  <a:srgbClr val="0F4761"/>
                </a:solidFill>
                <a:latin typeface="Times New Roman" panose="02020603050405020304" pitchFamily="18" charset="0"/>
              </a:rPr>
              <a:t>PODs</a:t>
            </a:r>
            <a:r>
              <a:rPr lang="es-VE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 escaneados adjuntos.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43714BB-4214-9F94-6A34-3B9C40CCE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3982" y="1348913"/>
            <a:ext cx="3261836" cy="4899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06339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44</TotalTime>
  <Words>673</Words>
  <Application>Microsoft Office PowerPoint</Application>
  <PresentationFormat>Panorámica</PresentationFormat>
  <Paragraphs>52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Times New Roman</vt:lpstr>
      <vt:lpstr>Trebuchet MS</vt:lpstr>
      <vt:lpstr>Wingdings 3</vt:lpstr>
      <vt:lpstr>Faceta</vt:lpstr>
      <vt:lpstr>FLEETIQ — Driver OS &amp; Control Central </vt:lpstr>
      <vt:lpstr>El Problema del Dueño-Operador en Ruta</vt:lpstr>
      <vt:lpstr>Un Solo Sistema, Dos Entornos Optimizados</vt:lpstr>
      <vt:lpstr>De Contrato a Hoja de Ruta en Minutos</vt:lpstr>
      <vt:lpstr>Ergonomía al Volante y Navegación Táctica</vt:lpstr>
      <vt:lpstr>Digitalización Inmediata y Cero Papeles Perdidos</vt:lpstr>
      <vt:lpstr>Continuidad Operativa 100% Desconectada</vt:lpstr>
      <vt:lpstr>Auditoría Express de Casetas, Retenciones y Maniobras</vt:lpstr>
      <vt:lpstr>Cierre Contable Automatizado y Timbrado Fiscal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Jaime Montañez</dc:creator>
  <cp:lastModifiedBy>Jaime Montañez</cp:lastModifiedBy>
  <cp:revision>1</cp:revision>
  <dcterms:created xsi:type="dcterms:W3CDTF">2026-09-27T11:33:56Z</dcterms:created>
  <dcterms:modified xsi:type="dcterms:W3CDTF">2026-09-27T12:18:28Z</dcterms:modified>
</cp:coreProperties>
</file>